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61" r:id="rId5"/>
    <p:sldId id="262" r:id="rId6"/>
    <p:sldId id="272" r:id="rId7"/>
    <p:sldId id="273" r:id="rId8"/>
    <p:sldId id="274" r:id="rId9"/>
    <p:sldId id="275" r:id="rId10"/>
    <p:sldId id="276" r:id="rId11"/>
    <p:sldId id="277" r:id="rId12"/>
    <p:sldId id="270" r:id="rId13"/>
    <p:sldId id="271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1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C55B476-8034-4F85-B2C1-0AE028E76437}" type="datetimeFigureOut">
              <a:rPr lang="ru-RU" smtClean="0"/>
              <a:t>29.05.2023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8586B02-C565-4083-9DF2-3A8C9AAD173D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704049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B476-8034-4F85-B2C1-0AE028E76437}" type="datetimeFigureOut">
              <a:rPr lang="ru-RU" smtClean="0"/>
              <a:t>29.05.2023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86B02-C565-4083-9DF2-3A8C9AAD17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3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55B476-8034-4F85-B2C1-0AE028E76437}" type="datetimeFigureOut">
              <a:rPr lang="ru-RU" smtClean="0"/>
              <a:t>29.05.2023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586B02-C565-4083-9DF2-3A8C9AAD173D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024763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B476-8034-4F85-B2C1-0AE028E76437}" type="datetimeFigureOut">
              <a:rPr lang="ru-RU" smtClean="0"/>
              <a:t>29.05.2023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86B02-C565-4083-9DF2-3A8C9AAD17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04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B476-8034-4F85-B2C1-0AE028E76437}" type="datetimeFigureOut">
              <a:rPr lang="ru-RU" smtClean="0"/>
              <a:t>29.05.2023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86B02-C565-4083-9DF2-3A8C9AAD17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744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B476-8034-4F85-B2C1-0AE028E76437}" type="datetimeFigureOut">
              <a:rPr lang="ru-RU" smtClean="0"/>
              <a:t>29.05.2023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86B02-C565-4083-9DF2-3A8C9AAD17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3051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B476-8034-4F85-B2C1-0AE028E76437}" type="datetimeFigureOut">
              <a:rPr lang="ru-RU" smtClean="0"/>
              <a:t>29.05.2023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86B02-C565-4083-9DF2-3A8C9AAD17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278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55B476-8034-4F85-B2C1-0AE028E76437}" type="datetimeFigureOut">
              <a:rPr lang="ru-RU" smtClean="0"/>
              <a:t>29.05.2023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586B02-C565-4083-9DF2-3A8C9AAD173D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16688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55B476-8034-4F85-B2C1-0AE028E76437}" type="datetimeFigureOut">
              <a:rPr lang="ru-RU" smtClean="0"/>
              <a:t>29.05.2023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586B02-C565-4083-9DF2-3A8C9AAD173D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51758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B476-8034-4F85-B2C1-0AE028E76437}" type="datetimeFigureOut">
              <a:rPr lang="ru-RU" smtClean="0"/>
              <a:t>29.05.2023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86B02-C565-4083-9DF2-3A8C9AAD17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541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B476-8034-4F85-B2C1-0AE028E76437}" type="datetimeFigureOut">
              <a:rPr lang="ru-RU" smtClean="0"/>
              <a:t>29.05.2023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86B02-C565-4083-9DF2-3A8C9AAD17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1650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0C55B476-8034-4F85-B2C1-0AE028E76437}" type="datetimeFigureOut">
              <a:rPr lang="ru-RU" smtClean="0"/>
              <a:t>29.05.2023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88586B02-C565-4083-9DF2-3A8C9AAD173D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14522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B667F3-B092-449C-9631-11B6224D22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5400" b="1" dirty="0"/>
              <a:t>Отчет о производственной практике</a:t>
            </a:r>
            <a:endParaRPr lang="ru-RU" sz="5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3FEAC81-E4A5-4FC0-B78D-E14B3373DA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r"/>
            <a:r>
              <a:rPr lang="ru-RU" b="1" dirty="0">
                <a:solidFill>
                  <a:schemeClr val="tx1"/>
                </a:solidFill>
              </a:rPr>
              <a:t>Студент: Рагимов Шамси</a:t>
            </a:r>
          </a:p>
          <a:p>
            <a:pPr algn="r"/>
            <a:r>
              <a:rPr lang="ru-RU" b="1" dirty="0">
                <a:solidFill>
                  <a:schemeClr val="tx1"/>
                </a:solidFill>
              </a:rPr>
              <a:t>Факультет: Информационные технологии и управление</a:t>
            </a:r>
          </a:p>
          <a:p>
            <a:pPr algn="r"/>
            <a:r>
              <a:rPr lang="ru-RU" b="1" dirty="0">
                <a:solidFill>
                  <a:schemeClr val="tx1"/>
                </a:solidFill>
              </a:rPr>
              <a:t>Группа: 680.19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43933E-5C5E-4750-B103-8961F32083B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712" y="1148347"/>
            <a:ext cx="1141015" cy="11410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325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BB1B56-FE62-43F0-943C-94285EF61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компании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6CFE8B-1EEF-4C24-81CF-AE1A751AB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286000"/>
            <a:ext cx="4447786" cy="4023360"/>
          </a:xfrm>
        </p:spPr>
        <p:txBody>
          <a:bodyPr>
            <a:normAutofit fontScale="55000" lnSpcReduction="20000"/>
          </a:bodyPr>
          <a:lstStyle/>
          <a:p>
            <a:r>
              <a:rPr lang="ru-RU" sz="2500" dirty="0"/>
              <a:t>KATV1 ("AG </a:t>
            </a:r>
            <a:r>
              <a:rPr lang="ru-RU" sz="2500" dirty="0" err="1"/>
              <a:t>Telekom</a:t>
            </a:r>
            <a:r>
              <a:rPr lang="ru-RU" sz="2500" dirty="0"/>
              <a:t>" OOO) - один из крупнейших провайдеров цифровых услуг, действующий на территории Азербайджанской Республики. </a:t>
            </a:r>
          </a:p>
          <a:p>
            <a:r>
              <a:rPr lang="ru-RU" sz="2500" dirty="0"/>
              <a:t>Бренд KATV1 на протяжении уже многих лет занимает лидирующие позиции на всём телекоммуникационном рынке страны. </a:t>
            </a:r>
          </a:p>
          <a:p>
            <a:r>
              <a:rPr lang="ru-RU" sz="2500" dirty="0"/>
              <a:t>В ближайших перспективах компании не только расширение географии своего вещания, а также внедрение последних достижений мирового сообщества в сфере телекоммуникационных технологий, что в совокупности с высоким качеством услуг и уровнем сервисного обслуживания клиентов станет главным условием сохранения ведущих позиций нашей компании на азербайджанском телекоммуникационном рынке.</a:t>
            </a:r>
          </a:p>
          <a:p>
            <a:r>
              <a:rPr lang="ru-RU" sz="2500" dirty="0"/>
              <a:t>Обеспечение доступа всех слоев населения к мировому телекоммуникационному содружеству — вот главное достижение компании KATV1!</a:t>
            </a:r>
          </a:p>
          <a:p>
            <a:endParaRPr lang="ru-RU" dirty="0"/>
          </a:p>
        </p:txBody>
      </p:sp>
      <p:pic>
        <p:nvPicPr>
          <p:cNvPr id="1026" name="Picture 2" descr="В Пираллахи открылся Центр обслуживания KATV1 - InfoCity">
            <a:extLst>
              <a:ext uri="{FF2B5EF4-FFF2-40B4-BE49-F238E27FC236}">
                <a16:creationId xmlns:a16="http://schemas.microsoft.com/office/drawing/2014/main" id="{291AE702-0081-4CF5-9F8E-47F5CBE491F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7777" y="3036441"/>
            <a:ext cx="4448175" cy="252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9866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A5B623-57BC-4C87-8BDA-553B5D044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Обзор данных и импортирование библиотек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7A1FC8-4A3B-4A6A-B2EF-EAA87E0E6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Представлены 6 данных, которые мы будем изучать шаг за шагом:</a:t>
            </a:r>
          </a:p>
          <a:p>
            <a:pPr lvl="0"/>
            <a:r>
              <a:rPr lang="ru-RU" dirty="0"/>
              <a:t>Обучение</a:t>
            </a:r>
          </a:p>
          <a:p>
            <a:pPr lvl="0"/>
            <a:r>
              <a:rPr lang="ru-RU" dirty="0"/>
              <a:t>Тест</a:t>
            </a:r>
          </a:p>
          <a:p>
            <a:pPr lvl="0"/>
            <a:r>
              <a:rPr lang="ru-RU" dirty="0"/>
              <a:t>Магазин</a:t>
            </a:r>
          </a:p>
          <a:p>
            <a:pPr lvl="0"/>
            <a:r>
              <a:rPr lang="ru-RU" dirty="0"/>
              <a:t>Транзакции</a:t>
            </a:r>
          </a:p>
          <a:p>
            <a:pPr lvl="0"/>
            <a:r>
              <a:rPr lang="ru-RU" dirty="0"/>
              <a:t>Праздники и мероприятия</a:t>
            </a:r>
          </a:p>
          <a:p>
            <a:pPr lvl="0"/>
            <a:r>
              <a:rPr lang="ru-RU" dirty="0"/>
              <a:t>Дневная цена на нефть</a:t>
            </a:r>
          </a:p>
        </p:txBody>
      </p:sp>
    </p:spTree>
    <p:extLst>
      <p:ext uri="{BB962C8B-B14F-4D97-AF65-F5344CB8AC3E}">
        <p14:creationId xmlns:p14="http://schemas.microsoft.com/office/powerpoint/2010/main" val="3344868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A57157-3DC1-4E01-BB80-B40912363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Библиотеки и импортирование данных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FEE0C1-654E-4992-902D-E149360383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  <a:endParaRPr lang="ru-RU" dirty="0"/>
          </a:p>
          <a:p>
            <a:r>
              <a:rPr lang="en-US" dirty="0"/>
              <a:t>import pandas as pd</a:t>
            </a:r>
            <a:endParaRPr lang="ru-RU" dirty="0"/>
          </a:p>
          <a:p>
            <a:r>
              <a:rPr lang="en-US" dirty="0"/>
              <a:t>import </a:t>
            </a:r>
            <a:r>
              <a:rPr lang="en-US" dirty="0" err="1"/>
              <a:t>os</a:t>
            </a:r>
            <a:endParaRPr lang="ru-RU" dirty="0"/>
          </a:p>
          <a:p>
            <a:r>
              <a:rPr lang="en-US" dirty="0"/>
              <a:t>import </a:t>
            </a:r>
            <a:r>
              <a:rPr lang="en-US" dirty="0" err="1"/>
              <a:t>gc</a:t>
            </a:r>
            <a:endParaRPr lang="ru-RU" dirty="0"/>
          </a:p>
          <a:p>
            <a:r>
              <a:rPr lang="en-US" dirty="0"/>
              <a:t>import warnings</a:t>
            </a:r>
            <a:endParaRPr lang="ru-RU" dirty="0"/>
          </a:p>
          <a:p>
            <a:r>
              <a:rPr lang="en-US" dirty="0"/>
              <a:t>import </a:t>
            </a:r>
            <a:r>
              <a:rPr lang="en-US" dirty="0" err="1"/>
              <a:t>statsmodels.api</a:t>
            </a:r>
            <a:r>
              <a:rPr lang="en-US" dirty="0"/>
              <a:t> as </a:t>
            </a:r>
            <a:r>
              <a:rPr lang="en-US" dirty="0" err="1"/>
              <a:t>sm</a:t>
            </a:r>
            <a:endParaRPr lang="ru-RU" dirty="0"/>
          </a:p>
          <a:p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ru-RU" dirty="0"/>
          </a:p>
          <a:p>
            <a:r>
              <a:rPr lang="en-US" dirty="0"/>
              <a:t>import seaborn as </a:t>
            </a:r>
            <a:r>
              <a:rPr lang="en-US" dirty="0" err="1"/>
              <a:t>sns</a:t>
            </a:r>
            <a:endParaRPr lang="ru-RU" dirty="0"/>
          </a:p>
          <a:p>
            <a:r>
              <a:rPr lang="en-US" dirty="0"/>
              <a:t>import </a:t>
            </a:r>
            <a:r>
              <a:rPr lang="en-US" dirty="0" err="1"/>
              <a:t>plotly.express</a:t>
            </a:r>
            <a:r>
              <a:rPr lang="en-US" dirty="0"/>
              <a:t> as px</a:t>
            </a:r>
            <a:endParaRPr lang="ru-RU" dirty="0"/>
          </a:p>
          <a:p>
            <a:r>
              <a:rPr lang="en-US" dirty="0" err="1"/>
              <a:t>pd.set_option</a:t>
            </a:r>
            <a:r>
              <a:rPr lang="en-US" dirty="0"/>
              <a:t>('</a:t>
            </a:r>
            <a:r>
              <a:rPr lang="en-US" dirty="0" err="1"/>
              <a:t>display.max_columns</a:t>
            </a:r>
            <a:r>
              <a:rPr lang="en-US" dirty="0"/>
              <a:t>', None)</a:t>
            </a:r>
            <a:endParaRPr lang="ru-RU" dirty="0"/>
          </a:p>
          <a:p>
            <a:r>
              <a:rPr lang="en-US" dirty="0" err="1"/>
              <a:t>pd.options.display.float_format</a:t>
            </a:r>
            <a:r>
              <a:rPr lang="en-US" dirty="0"/>
              <a:t> = '{:.2f}'.format</a:t>
            </a:r>
            <a:endParaRPr lang="ru-RU" dirty="0"/>
          </a:p>
          <a:p>
            <a:r>
              <a:rPr lang="en-US" dirty="0"/>
              <a:t>warnings</a:t>
            </a:r>
            <a:r>
              <a:rPr lang="ru-RU" dirty="0"/>
              <a:t>.</a:t>
            </a:r>
            <a:r>
              <a:rPr lang="en-US" dirty="0" err="1"/>
              <a:t>filterwarnings</a:t>
            </a:r>
            <a:r>
              <a:rPr lang="ru-RU" dirty="0"/>
              <a:t>('</a:t>
            </a:r>
            <a:r>
              <a:rPr lang="en-US" dirty="0"/>
              <a:t>ignore</a:t>
            </a:r>
            <a:r>
              <a:rPr lang="ru-RU" dirty="0"/>
              <a:t>') 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3AB97A-6C1F-490F-9128-25AC8C53B5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Numpy</a:t>
            </a:r>
            <a:r>
              <a:rPr lang="en-US" dirty="0"/>
              <a:t> </a:t>
            </a:r>
            <a:r>
              <a:rPr lang="ru-RU" dirty="0"/>
              <a:t>– библиотека для поддержки массивов, высокоуровневых математических операций.</a:t>
            </a:r>
          </a:p>
          <a:p>
            <a:r>
              <a:rPr lang="en-US" dirty="0"/>
              <a:t>Pandas </a:t>
            </a:r>
            <a:r>
              <a:rPr lang="ru-RU" dirty="0"/>
              <a:t>– библиотека для упрощенного анализа и представления данных в виде таблиц.</a:t>
            </a:r>
          </a:p>
          <a:p>
            <a:r>
              <a:rPr lang="en-US" dirty="0"/>
              <a:t>OS</a:t>
            </a:r>
            <a:r>
              <a:rPr lang="ru-RU" dirty="0"/>
              <a:t> – библиотека, открывающая много функций для работы с операционной системой.</a:t>
            </a:r>
          </a:p>
          <a:p>
            <a:r>
              <a:rPr lang="en-US" dirty="0"/>
              <a:t>GC</a:t>
            </a:r>
            <a:r>
              <a:rPr lang="ru-RU" dirty="0"/>
              <a:t> – библиотека для освобождения оперативной памяти при компиляции. </a:t>
            </a:r>
          </a:p>
          <a:p>
            <a:r>
              <a:rPr lang="en-US" dirty="0"/>
              <a:t>Warnings </a:t>
            </a:r>
            <a:r>
              <a:rPr lang="ru-RU" dirty="0"/>
              <a:t>– полезен, когда необходимо предупредить пользователя о каком-либо условии и оно не требует создания исключения и завершения программы.</a:t>
            </a:r>
          </a:p>
          <a:p>
            <a:r>
              <a:rPr lang="en-US" dirty="0" err="1"/>
              <a:t>Statsmodels</a:t>
            </a:r>
            <a:r>
              <a:rPr lang="en-US" dirty="0"/>
              <a:t> </a:t>
            </a:r>
            <a:r>
              <a:rPr lang="ru-RU" dirty="0"/>
              <a:t>– это пакет </a:t>
            </a:r>
            <a:r>
              <a:rPr lang="ru-RU" dirty="0" err="1"/>
              <a:t>Python</a:t>
            </a:r>
            <a:r>
              <a:rPr lang="ru-RU" dirty="0"/>
              <a:t>, который позволяет пользователям исследовать данные, оценивать статистические модели и выполнять статистические тесты.</a:t>
            </a:r>
          </a:p>
          <a:p>
            <a:r>
              <a:rPr lang="en-US" dirty="0"/>
              <a:t>Matplotlib</a:t>
            </a:r>
            <a:r>
              <a:rPr lang="ru-RU" dirty="0"/>
              <a:t>, </a:t>
            </a:r>
            <a:r>
              <a:rPr lang="en-US" dirty="0"/>
              <a:t>seaborn </a:t>
            </a:r>
            <a:r>
              <a:rPr lang="ru-RU" dirty="0"/>
              <a:t>и </a:t>
            </a:r>
            <a:r>
              <a:rPr lang="en-US" dirty="0" err="1"/>
              <a:t>plotly</a:t>
            </a:r>
            <a:r>
              <a:rPr lang="en-US" dirty="0"/>
              <a:t> </a:t>
            </a:r>
            <a:r>
              <a:rPr lang="ru-RU" dirty="0"/>
              <a:t>– библиотеки для визуализации данных.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3399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546482-F6AF-4910-8C28-A2F468DA65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АНАЛИЗ ДАННЫХ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9F3C078-0EEA-48DC-9AA6-A9D9306B18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3811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FB8523-781E-4202-A613-CFADE1BD6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Продажи показывают общий объем продаж для семейства товаров в конкретном магазине на заданную дату. 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0094085-444B-4BBD-8C71-288139A6DA7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5701" y="2400300"/>
            <a:ext cx="7020597" cy="3467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19395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A4B5DC-6288-4193-9E79-0A8E51E87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В транзакции существует стабильная закономерность. Все месяцы похожи, за исключением декабря, с 2013 по 2017 год.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0FB7E63E-1FF5-456A-82BF-72B6396AD8D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563" y="2400300"/>
            <a:ext cx="6654873" cy="3467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5772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0A77C-0676-455D-941D-D61D4E705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Давайте взглянем на транзакции, используя среднемесячные продажи!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4885B106-F3A8-4C55-A337-DB598A5CC00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7030" y="2400300"/>
            <a:ext cx="6637940" cy="3467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0208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B9F081-2050-4C92-A7D3-649334966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Существует также высокая корреляция между общим объемом продаж и транзакциями.</a:t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3326EBFC-FF74-4705-87E8-DC84ADCA877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563" y="2400300"/>
            <a:ext cx="6654873" cy="3467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7699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BD1802-CC35-45C7-88E6-828238E7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000" dirty="0"/>
              <a:t>Магазины совершают больше транзакций по выходным. Почти все модели одинаковы с 2013 по 2017 год, и суббота - самый важный день для шоппинга.</a:t>
            </a:r>
            <a:br>
              <a:rPr lang="ru-RU" sz="3000" dirty="0"/>
            </a:br>
            <a:endParaRPr lang="ru-RU" sz="3000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0B0D46F-576E-43E0-8CE4-0FE3618EFDE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563" y="2400300"/>
            <a:ext cx="6654873" cy="3467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3923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6232B2-1393-4B14-B184-732C14878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Цена на нефть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AC9B8D62-59EE-4FB4-BEF4-D56D49D4533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7030" y="2400300"/>
            <a:ext cx="6637940" cy="3467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119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4BE3C2-6E21-4B01-8FE9-70E77A2A0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Давайте нарисуем точечную диаграмму, но на этот раз обратим внимание на семейства продуктов. 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A4E84EED-F720-45D4-A7DC-C5C121E1AF2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8728" y="2286000"/>
            <a:ext cx="5266944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984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B96DAC-1C31-4B5A-BC27-A76F3A63A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Большинство магазинов похожи друг на друга, когда мы исследуем их с помощью корреляционной матрицы. 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E2E3056-6CC2-40CA-AAD5-F3CF7AEA0F6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3383" y="2286000"/>
            <a:ext cx="4917634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903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54825A-D20F-4C10-BE03-77FA6B9AC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Ниже приведен график, который показывает общий объем продаж за день.</a:t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618B94E5-B834-44D1-B36F-2A0D80610CA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697" y="2400300"/>
            <a:ext cx="6722606" cy="3467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9016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DB8D7-A731-45BA-B0F2-6E509E70FD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Прогнозирование продаж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A4683DA-8472-4334-98AF-B663CD7056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00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FCFEB9-BA1F-4448-BC0B-8964908B5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Некоторые товары могут редко продаваться в магазинах. Однако некоторые семейства продуктов зависят от сезонности. </a:t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0530FA08-DE5C-443F-9999-5FC8AB13DD2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5497" y="2400300"/>
            <a:ext cx="6621006" cy="3467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91098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EF1F2-03BE-4AED-A1A5-437175502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График показывает, что продукты </a:t>
            </a:r>
            <a:r>
              <a:rPr lang="en-US" sz="3200" dirty="0"/>
              <a:t>GOCERY I</a:t>
            </a:r>
            <a:r>
              <a:rPr lang="ru-RU" sz="3200" dirty="0"/>
              <a:t> и </a:t>
            </a:r>
            <a:r>
              <a:rPr lang="en-US" sz="3200" dirty="0"/>
              <a:t>BEVERAGES</a:t>
            </a:r>
            <a:r>
              <a:rPr lang="ru-RU" sz="3200" dirty="0"/>
              <a:t> являются самыми продаваемыми семействами.</a:t>
            </a:r>
            <a:br>
              <a:rPr lang="ru-RU" sz="3200" dirty="0"/>
            </a:br>
            <a:endParaRPr lang="ru-RU" sz="3200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B441EB2-9F07-4F09-BA11-81A578B69C8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30" y="2400300"/>
            <a:ext cx="6688740" cy="3467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0827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15E26F-B19E-4AA7-BEBC-9484B305C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100" dirty="0"/>
              <a:t>Из таблицы ниже мы можем понять, как футбольные мероприятия влияют на продажу семейства продуктов. 1- когда проводится футбольное, 0 – мероприятие не проводится. </a:t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49095312-8CA0-462A-95C3-14A130285E1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0342" y="2400300"/>
            <a:ext cx="2645658" cy="34671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843629-F361-4D9F-8A13-3992A166470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2462000"/>
            <a:ext cx="2645658" cy="3467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4352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1AC22C-3E6E-44F5-AA63-43288A5AA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Повлияло ли землетрясение на продажи в магазинах?</a:t>
            </a:r>
            <a:br>
              <a:rPr lang="ru-RU" b="1" dirty="0"/>
            </a:b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ED47F2A-C921-44A4-B2A8-8458CC9E7B7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0521" y="2400300"/>
            <a:ext cx="8090958" cy="174836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C423D5-634D-4E9B-9926-9A3C921AC29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050521" y="4148666"/>
            <a:ext cx="8090957" cy="171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2435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1E515-21F1-42FD-98AE-49D0601F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ACF и PACF для каждой семьи</a:t>
            </a:r>
            <a:br>
              <a:rPr lang="ru-RU" b="1" dirty="0"/>
            </a:b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67C24701-776E-4BC4-B8CF-36FF712C29B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2162" y="2400300"/>
            <a:ext cx="8067675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905065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55F411-DDC2-43ED-87FD-907856A78D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DCC6FA-E3A9-408C-A522-B648C2B00E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60660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Обрезка">
  <a:themeElements>
    <a:clrScheme name="Обрезк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Обрезк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Обрезк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85</TotalTime>
  <Words>528</Words>
  <Application>Microsoft Office PowerPoint</Application>
  <PresentationFormat>Широкоэкранный</PresentationFormat>
  <Paragraphs>54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3" baseType="lpstr">
      <vt:lpstr>Franklin Gothic Book</vt:lpstr>
      <vt:lpstr>Обрезка</vt:lpstr>
      <vt:lpstr>Отчет о производственной практике</vt:lpstr>
      <vt:lpstr>О компании</vt:lpstr>
      <vt:lpstr>Обзор данных и импортирование библиотек </vt:lpstr>
      <vt:lpstr>Библиотеки и импортирование данных</vt:lpstr>
      <vt:lpstr>АНАЛИЗ ДАННЫХ</vt:lpstr>
      <vt:lpstr>Продажи показывают общий объем продаж для семейства товаров в конкретном магазине на заданную дату. </vt:lpstr>
      <vt:lpstr>В транзакции существует стабильная закономерность. Все месяцы похожи, за исключением декабря, с 2013 по 2017 год.</vt:lpstr>
      <vt:lpstr>Давайте взглянем на транзакции, используя среднемесячные продажи!</vt:lpstr>
      <vt:lpstr>Существует также высокая корреляция между общим объемом продаж и транзакциями. </vt:lpstr>
      <vt:lpstr>Магазины совершают больше транзакций по выходным. Почти все модели одинаковы с 2013 по 2017 год, и суббота - самый важный день для шоппинга. </vt:lpstr>
      <vt:lpstr>Цена на нефть</vt:lpstr>
      <vt:lpstr>Давайте нарисуем точечную диаграмму, но на этот раз обратим внимание на семейства продуктов. </vt:lpstr>
      <vt:lpstr>Большинство магазинов похожи друг на друга, когда мы исследуем их с помощью корреляционной матрицы. </vt:lpstr>
      <vt:lpstr>Ниже приведен график, который показывает общий объем продаж за день. </vt:lpstr>
      <vt:lpstr>Прогнозирование продаж</vt:lpstr>
      <vt:lpstr>Некоторые товары могут редко продаваться в магазинах. Однако некоторые семейства продуктов зависят от сезонности.  </vt:lpstr>
      <vt:lpstr>График показывает, что продукты GOCERY I и BEVERAGES являются самыми продаваемыми семействами. </vt:lpstr>
      <vt:lpstr>Из таблицы ниже мы можем понять, как футбольные мероприятия влияют на продажу семейства продуктов. 1- когда проводится футбольное, 0 – мероприятие не проводится.  </vt:lpstr>
      <vt:lpstr>Повлияло ли землетрясение на продажи в магазинах? </vt:lpstr>
      <vt:lpstr>ACF и PACF для каждой семьи 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Şəmsi Rəhimov</dc:creator>
  <cp:lastModifiedBy>Şəmsi Rəhimov</cp:lastModifiedBy>
  <cp:revision>13</cp:revision>
  <dcterms:created xsi:type="dcterms:W3CDTF">2023-05-21T20:37:22Z</dcterms:created>
  <dcterms:modified xsi:type="dcterms:W3CDTF">2023-05-28T22:19:09Z</dcterms:modified>
</cp:coreProperties>
</file>