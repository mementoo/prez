
<file path=[Content_Types].xml><?xml version="1.0" encoding="utf-8"?>
<Types xmlns="http://schemas.openxmlformats.org/package/2006/content-types">
  <Default Extension="bmp" ContentType="image/bmp"/>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4" r:id="rId1"/>
  </p:sldMasterIdLst>
  <p:sldIdLst>
    <p:sldId id="256" r:id="rId2"/>
    <p:sldId id="266" r:id="rId3"/>
    <p:sldId id="274" r:id="rId4"/>
    <p:sldId id="257" r:id="rId5"/>
    <p:sldId id="258" r:id="rId6"/>
    <p:sldId id="259" r:id="rId7"/>
    <p:sldId id="260" r:id="rId8"/>
    <p:sldId id="261" r:id="rId9"/>
    <p:sldId id="262" r:id="rId10"/>
    <p:sldId id="263" r:id="rId11"/>
    <p:sldId id="271" r:id="rId12"/>
    <p:sldId id="267" r:id="rId13"/>
    <p:sldId id="268" r:id="rId14"/>
    <p:sldId id="273" r:id="rId15"/>
    <p:sldId id="264" r:id="rId16"/>
    <p:sldId id="265"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1" d="100"/>
          <a:sy n="111" d="100"/>
        </p:scale>
        <p:origin x="456"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ectangle 15"/>
          <p:cNvSpPr/>
          <p:nvPr/>
        </p:nvSpPr>
        <p:spPr>
          <a:xfrm>
            <a:off x="1" y="0"/>
            <a:ext cx="12192000" cy="6858000"/>
          </a:xfrm>
          <a:prstGeom prst="rect">
            <a:avLst/>
          </a:prstGeom>
          <a:blipFill dpi="0" rotWithShape="1">
            <a:blip r:embed="rId2">
              <a:alphaModFix amt="45000"/>
              <a:duotone>
                <a:schemeClr val="accent2">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11" name="Rectangle 10"/>
          <p:cNvSpPr/>
          <p:nvPr/>
        </p:nvSpPr>
        <p:spPr>
          <a:xfrm>
            <a:off x="1447801" y="1411615"/>
            <a:ext cx="9296400" cy="4034770"/>
          </a:xfrm>
          <a:prstGeom prst="rect">
            <a:avLst/>
          </a:prstGeom>
          <a:solidFill>
            <a:schemeClr val="bg2"/>
          </a:solidFill>
          <a:ln w="9525" cap="sq" cmpd="sng" algn="ctr">
            <a:no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ru-RU"/>
              <a:t>Образец заголовка</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2"/>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6FCB0ADD-1737-4E6F-B14D-7EAC8ED80F19}" type="datetimeFigureOut">
              <a:rPr lang="ru-RU" smtClean="0"/>
              <a:t>29.05.2023</a:t>
            </a:fld>
            <a:endParaRPr lang="ru-RU"/>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tx2"/>
                </a:solidFill>
              </a:defRPr>
            </a:lvl1pPr>
          </a:lstStyle>
          <a:p>
            <a:endParaRPr lang="ru-RU"/>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2"/>
                </a:solidFill>
              </a:defRPr>
            </a:lvl1pPr>
          </a:lstStyle>
          <a:p>
            <a:fld id="{5E089EBB-B192-455D-8AAB-E585A206F49C}" type="slidenum">
              <a:rPr lang="ru-RU" smtClean="0"/>
              <a:t>‹#›</a:t>
            </a:fld>
            <a:endParaRPr lang="ru-RU"/>
          </a:p>
        </p:txBody>
      </p:sp>
    </p:spTree>
    <p:extLst>
      <p:ext uri="{BB962C8B-B14F-4D97-AF65-F5344CB8AC3E}">
        <p14:creationId xmlns:p14="http://schemas.microsoft.com/office/powerpoint/2010/main" val="954174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lvl1pPr>
              <a:defRPr sz="1800"/>
            </a:lvl1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6FCB0ADD-1737-4E6F-B14D-7EAC8ED80F19}" type="datetimeFigureOut">
              <a:rPr lang="ru-RU" smtClean="0"/>
              <a:t>29.05.2023</a:t>
            </a:fld>
            <a:endParaRPr lang="ru-RU"/>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ru-RU"/>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5E089EBB-B192-455D-8AAB-E585A206F49C}" type="slidenum">
              <a:rPr lang="ru-RU" smtClean="0"/>
              <a:t>‹#›</a:t>
            </a:fld>
            <a:endParaRPr lang="ru-RU"/>
          </a:p>
        </p:txBody>
      </p:sp>
    </p:spTree>
    <p:extLst>
      <p:ext uri="{BB962C8B-B14F-4D97-AF65-F5344CB8AC3E}">
        <p14:creationId xmlns:p14="http://schemas.microsoft.com/office/powerpoint/2010/main" val="2279256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9" name="Rectangle 18"/>
          <p:cNvSpPr/>
          <p:nvPr/>
        </p:nvSpPr>
        <p:spPr>
          <a:xfrm>
            <a:off x="0" y="0"/>
            <a:ext cx="12192000" cy="6858000"/>
          </a:xfrm>
          <a:prstGeom prst="rect">
            <a:avLst/>
          </a:prstGeom>
          <a:blipFill dpi="0" rotWithShape="1">
            <a:blip r:embed="rId2">
              <a:alphaModFix amt="40000"/>
              <a:duotone>
                <a:schemeClr val="accent3">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24" name="Rectangle 23"/>
          <p:cNvSpPr/>
          <p:nvPr/>
        </p:nvSpPr>
        <p:spPr>
          <a:xfrm>
            <a:off x="1447801" y="1411615"/>
            <a:ext cx="9296400" cy="4034770"/>
          </a:xfrm>
          <a:prstGeom prst="rect">
            <a:avLst/>
          </a:prstGeom>
          <a:solidFill>
            <a:schemeClr val="bg2"/>
          </a:solidFill>
          <a:ln w="9525" cap="sq" cmpd="sng" algn="ctr">
            <a:noFill/>
            <a:prstDash val="solid"/>
            <a:miter lim="800000"/>
          </a:ln>
          <a:effectLst/>
        </p:spPr>
      </p:sp>
      <p:sp>
        <p:nvSpPr>
          <p:cNvPr id="30" name="Rectangle 29"/>
          <p:cNvSpPr/>
          <p:nvPr/>
        </p:nvSpPr>
        <p:spPr>
          <a:xfrm>
            <a:off x="5135880" y="1267730"/>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b="0" kern="1200" cap="all" spc="-100"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ru-RU"/>
              <a:t>Образец заголовка</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tx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6FCB0ADD-1737-4E6F-B14D-7EAC8ED80F19}" type="datetimeFigureOut">
              <a:rPr lang="ru-RU" smtClean="0"/>
              <a:t>29.05.2023</a:t>
            </a:fld>
            <a:endParaRPr lang="ru-RU"/>
          </a:p>
        </p:txBody>
      </p:sp>
      <p:sp>
        <p:nvSpPr>
          <p:cNvPr id="5" name="Footer Placeholder 4"/>
          <p:cNvSpPr>
            <a:spLocks noGrp="1"/>
          </p:cNvSpPr>
          <p:nvPr>
            <p:ph type="ftr" sz="quarter" idx="11"/>
          </p:nvPr>
        </p:nvSpPr>
        <p:spPr>
          <a:xfrm>
            <a:off x="1453896" y="5212080"/>
            <a:ext cx="5907024" cy="228600"/>
          </a:xfrm>
        </p:spPr>
        <p:txBody>
          <a:bodyPr/>
          <a:lstStyle>
            <a:lvl1pPr algn="l">
              <a:defRPr>
                <a:solidFill>
                  <a:schemeClr val="tx2"/>
                </a:solidFill>
              </a:defRPr>
            </a:lvl1pPr>
          </a:lstStyle>
          <a:p>
            <a:endParaRPr lang="ru-RU"/>
          </a:p>
        </p:txBody>
      </p:sp>
      <p:sp>
        <p:nvSpPr>
          <p:cNvPr id="6" name="Slide Number Placeholder 5"/>
          <p:cNvSpPr>
            <a:spLocks noGrp="1"/>
          </p:cNvSpPr>
          <p:nvPr>
            <p:ph type="sldNum" sz="quarter" idx="12"/>
          </p:nvPr>
        </p:nvSpPr>
        <p:spPr>
          <a:xfrm>
            <a:off x="8604504" y="5212080"/>
            <a:ext cx="2112264" cy="228600"/>
          </a:xfrm>
        </p:spPr>
        <p:txBody>
          <a:bodyPr/>
          <a:lstStyle>
            <a:lvl1pPr>
              <a:defRPr>
                <a:solidFill>
                  <a:schemeClr val="tx2"/>
                </a:solidFill>
              </a:defRPr>
            </a:lvl1pPr>
          </a:lstStyle>
          <a:p>
            <a:fld id="{5E089EBB-B192-455D-8AAB-E585A206F49C}" type="slidenum">
              <a:rPr lang="ru-RU" smtClean="0"/>
              <a:t>‹#›</a:t>
            </a:fld>
            <a:endParaRPr lang="ru-RU"/>
          </a:p>
        </p:txBody>
      </p:sp>
    </p:spTree>
    <p:extLst>
      <p:ext uri="{BB962C8B-B14F-4D97-AF65-F5344CB8AC3E}">
        <p14:creationId xmlns:p14="http://schemas.microsoft.com/office/powerpoint/2010/main" val="3460488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lvl1pPr>
              <a:defRPr>
                <a:solidFill>
                  <a:schemeClr val="tx2"/>
                </a:solidFill>
              </a:defRPr>
            </a:lvl1pPr>
          </a:lstStyle>
          <a:p>
            <a:fld id="{6FCB0ADD-1737-4E6F-B14D-7EAC8ED80F19}" type="datetimeFigureOut">
              <a:rPr lang="ru-RU" smtClean="0"/>
              <a:t>29.05.2023</a:t>
            </a:fld>
            <a:endParaRPr lang="ru-RU"/>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ru-RU"/>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E089EBB-B192-455D-8AAB-E585A206F49C}" type="slidenum">
              <a:rPr lang="ru-RU" smtClean="0"/>
              <a:t>‹#›</a:t>
            </a:fld>
            <a:endParaRPr lang="ru-RU"/>
          </a:p>
        </p:txBody>
      </p:sp>
    </p:spTree>
    <p:extLst>
      <p:ext uri="{BB962C8B-B14F-4D97-AF65-F5344CB8AC3E}">
        <p14:creationId xmlns:p14="http://schemas.microsoft.com/office/powerpoint/2010/main" val="1362132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lvl1pPr>
              <a:defRPr>
                <a:solidFill>
                  <a:schemeClr val="tx2"/>
                </a:solidFill>
              </a:defRPr>
            </a:lvl1pPr>
          </a:lstStyle>
          <a:p>
            <a:fld id="{6FCB0ADD-1737-4E6F-B14D-7EAC8ED80F19}" type="datetimeFigureOut">
              <a:rPr lang="ru-RU" smtClean="0"/>
              <a:t>29.05.2023</a:t>
            </a:fld>
            <a:endParaRPr lang="ru-RU"/>
          </a:p>
        </p:txBody>
      </p:sp>
      <p:sp>
        <p:nvSpPr>
          <p:cNvPr id="8" name="Footer Placeholder 7"/>
          <p:cNvSpPr>
            <a:spLocks noGrp="1"/>
          </p:cNvSpPr>
          <p:nvPr>
            <p:ph type="ftr" sz="quarter" idx="11"/>
          </p:nvPr>
        </p:nvSpPr>
        <p:spPr/>
        <p:txBody>
          <a:bodyPr/>
          <a:lstStyle>
            <a:lvl1pPr>
              <a:defRPr>
                <a:solidFill>
                  <a:schemeClr val="tx2"/>
                </a:solidFill>
              </a:defRPr>
            </a:lvl1pPr>
          </a:lstStyle>
          <a:p>
            <a:endParaRPr lang="ru-RU"/>
          </a:p>
        </p:txBody>
      </p:sp>
      <p:sp>
        <p:nvSpPr>
          <p:cNvPr id="9" name="Slide Number Placeholder 8"/>
          <p:cNvSpPr>
            <a:spLocks noGrp="1"/>
          </p:cNvSpPr>
          <p:nvPr>
            <p:ph type="sldNum" sz="quarter" idx="12"/>
          </p:nvPr>
        </p:nvSpPr>
        <p:spPr/>
        <p:txBody>
          <a:bodyPr/>
          <a:lstStyle>
            <a:lvl1pPr>
              <a:defRPr>
                <a:solidFill>
                  <a:schemeClr val="tx2"/>
                </a:solidFill>
              </a:defRPr>
            </a:lvl1pPr>
          </a:lstStyle>
          <a:p>
            <a:fld id="{5E089EBB-B192-455D-8AAB-E585A206F49C}" type="slidenum">
              <a:rPr lang="ru-RU" smtClean="0"/>
              <a:t>‹#›</a:t>
            </a:fld>
            <a:endParaRPr lang="ru-RU"/>
          </a:p>
        </p:txBody>
      </p:sp>
    </p:spTree>
    <p:extLst>
      <p:ext uri="{BB962C8B-B14F-4D97-AF65-F5344CB8AC3E}">
        <p14:creationId xmlns:p14="http://schemas.microsoft.com/office/powerpoint/2010/main" val="2452023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lvl1pPr>
              <a:defRPr>
                <a:solidFill>
                  <a:schemeClr val="tx2"/>
                </a:solidFill>
              </a:defRPr>
            </a:lvl1pPr>
          </a:lstStyle>
          <a:p>
            <a:fld id="{6FCB0ADD-1737-4E6F-B14D-7EAC8ED80F19}" type="datetimeFigureOut">
              <a:rPr lang="ru-RU" smtClean="0"/>
              <a:t>29.05.2023</a:t>
            </a:fld>
            <a:endParaRPr lang="ru-RU"/>
          </a:p>
        </p:txBody>
      </p:sp>
      <p:sp>
        <p:nvSpPr>
          <p:cNvPr id="4" name="Footer Placeholder 3"/>
          <p:cNvSpPr>
            <a:spLocks noGrp="1"/>
          </p:cNvSpPr>
          <p:nvPr>
            <p:ph type="ftr" sz="quarter" idx="11"/>
          </p:nvPr>
        </p:nvSpPr>
        <p:spPr/>
        <p:txBody>
          <a:bodyPr/>
          <a:lstStyle>
            <a:lvl1pPr>
              <a:defRPr>
                <a:solidFill>
                  <a:schemeClr val="tx2"/>
                </a:solidFill>
              </a:defRPr>
            </a:lvl1pPr>
          </a:lstStyle>
          <a:p>
            <a:endParaRPr lang="ru-RU"/>
          </a:p>
        </p:txBody>
      </p:sp>
      <p:sp>
        <p:nvSpPr>
          <p:cNvPr id="5" name="Slide Number Placeholder 4"/>
          <p:cNvSpPr>
            <a:spLocks noGrp="1"/>
          </p:cNvSpPr>
          <p:nvPr>
            <p:ph type="sldNum" sz="quarter" idx="12"/>
          </p:nvPr>
        </p:nvSpPr>
        <p:spPr/>
        <p:txBody>
          <a:bodyPr/>
          <a:lstStyle>
            <a:lvl1pPr>
              <a:defRPr>
                <a:solidFill>
                  <a:schemeClr val="tx2"/>
                </a:solidFill>
              </a:defRPr>
            </a:lvl1pPr>
          </a:lstStyle>
          <a:p>
            <a:fld id="{5E089EBB-B192-455D-8AAB-E585A206F49C}" type="slidenum">
              <a:rPr lang="ru-RU" smtClean="0"/>
              <a:t>‹#›</a:t>
            </a:fld>
            <a:endParaRPr lang="ru-RU"/>
          </a:p>
        </p:txBody>
      </p:sp>
    </p:spTree>
    <p:extLst>
      <p:ext uri="{BB962C8B-B14F-4D97-AF65-F5344CB8AC3E}">
        <p14:creationId xmlns:p14="http://schemas.microsoft.com/office/powerpoint/2010/main" val="2270374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lstStyle>
          <a:p>
            <a:fld id="{6FCB0ADD-1737-4E6F-B14D-7EAC8ED80F19}" type="datetimeFigureOut">
              <a:rPr lang="ru-RU" smtClean="0"/>
              <a:t>29.05.2023</a:t>
            </a:fld>
            <a:endParaRPr lang="ru-RU"/>
          </a:p>
        </p:txBody>
      </p:sp>
      <p:sp>
        <p:nvSpPr>
          <p:cNvPr id="3" name="Footer Placeholder 2"/>
          <p:cNvSpPr>
            <a:spLocks noGrp="1"/>
          </p:cNvSpPr>
          <p:nvPr>
            <p:ph type="ftr" sz="quarter" idx="11"/>
          </p:nvPr>
        </p:nvSpPr>
        <p:spPr/>
        <p:txBody>
          <a:bodyPr/>
          <a:lstStyle>
            <a:lvl1pPr>
              <a:defRPr>
                <a:solidFill>
                  <a:schemeClr val="tx2"/>
                </a:solidFill>
              </a:defRPr>
            </a:lvl1pPr>
          </a:lstStyle>
          <a:p>
            <a:endParaRPr lang="ru-RU"/>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5E089EBB-B192-455D-8AAB-E585A206F49C}" type="slidenum">
              <a:rPr lang="ru-RU" smtClean="0"/>
              <a:t>‹#›</a:t>
            </a:fld>
            <a:endParaRPr lang="ru-RU"/>
          </a:p>
        </p:txBody>
      </p:sp>
    </p:spTree>
    <p:extLst>
      <p:ext uri="{BB962C8B-B14F-4D97-AF65-F5344CB8AC3E}">
        <p14:creationId xmlns:p14="http://schemas.microsoft.com/office/powerpoint/2010/main" val="3279817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4" name="Rectangle 13"/>
          <p:cNvSpPr/>
          <p:nvPr/>
        </p:nvSpPr>
        <p:spPr>
          <a:xfrm>
            <a:off x="234693" y="237744"/>
            <a:ext cx="8633081" cy="6382512"/>
          </a:xfrm>
          <a:prstGeom prst="rect">
            <a:avLst/>
          </a:prstGeom>
          <a:solidFill>
            <a:schemeClr val="tx1"/>
          </a:solidFill>
          <a:ln w="6350" cap="flat" cmpd="sng" algn="ctr">
            <a:solidFill>
              <a:schemeClr val="tx1">
                <a:lumMod val="75000"/>
              </a:schemeClr>
            </a:solidFill>
            <a:prstDash val="solid"/>
          </a:ln>
          <a:effectLst>
            <a:softEdge rad="0"/>
          </a:effectLst>
        </p:spPr>
      </p:sp>
      <p:sp>
        <p:nvSpPr>
          <p:cNvPr id="16" name="Rectangle 15"/>
          <p:cNvSpPr/>
          <p:nvPr/>
        </p:nvSpPr>
        <p:spPr>
          <a:xfrm>
            <a:off x="371856" y="374904"/>
            <a:ext cx="8353044" cy="6108192"/>
          </a:xfrm>
          <a:prstGeom prst="rect">
            <a:avLst/>
          </a:prstGeom>
          <a:solidFill>
            <a:schemeClr val="bg2"/>
          </a:solidFill>
          <a:ln w="6350" cap="sq" cmpd="sng" algn="ctr">
            <a:noFill/>
            <a:prstDash val="solid"/>
            <a:miter lim="800000"/>
          </a:ln>
          <a:effectLst/>
        </p:spPr>
      </p:sp>
      <p:sp>
        <p:nvSpPr>
          <p:cNvPr id="15" name="Rectangle 14"/>
          <p:cNvSpPr/>
          <p:nvPr/>
        </p:nvSpPr>
        <p:spPr>
          <a:xfrm>
            <a:off x="9020386" y="237744"/>
            <a:ext cx="2926080" cy="63825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chemeClr val="bg1"/>
                </a:solidFill>
                <a:effectLst/>
                <a:latin typeface="+mj-lt"/>
                <a:ea typeface="+mn-ea"/>
                <a:cs typeface="+mn-cs"/>
              </a:defRPr>
            </a:lvl1pPr>
          </a:lstStyle>
          <a:p>
            <a:r>
              <a:rPr lang="ru-RU"/>
              <a:t>Образец заголовка</a:t>
            </a:r>
            <a:endParaRPr lang="en-US" dirty="0"/>
          </a:p>
        </p:txBody>
      </p:sp>
      <p:sp>
        <p:nvSpPr>
          <p:cNvPr id="3" name="Content Placeholder 2"/>
          <p:cNvSpPr>
            <a:spLocks noGrp="1"/>
          </p:cNvSpPr>
          <p:nvPr>
            <p:ph idx="1"/>
          </p:nvPr>
        </p:nvSpPr>
        <p:spPr>
          <a:xfrm>
            <a:off x="790575" y="704850"/>
            <a:ext cx="7562850" cy="51435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lvl1pPr>
              <a:defRPr>
                <a:solidFill>
                  <a:schemeClr val="tx2"/>
                </a:solidFill>
              </a:defRPr>
            </a:lvl1pPr>
          </a:lstStyle>
          <a:p>
            <a:fld id="{6FCB0ADD-1737-4E6F-B14D-7EAC8ED80F19}" type="datetimeFigureOut">
              <a:rPr lang="ru-RU" smtClean="0"/>
              <a:t>29.05.2023</a:t>
            </a:fld>
            <a:endParaRPr lang="ru-RU"/>
          </a:p>
        </p:txBody>
      </p:sp>
      <p:sp>
        <p:nvSpPr>
          <p:cNvPr id="6" name="Footer Placeholder 5"/>
          <p:cNvSpPr>
            <a:spLocks noGrp="1"/>
          </p:cNvSpPr>
          <p:nvPr>
            <p:ph type="ftr" sz="quarter" idx="11"/>
          </p:nvPr>
        </p:nvSpPr>
        <p:spPr>
          <a:xfrm>
            <a:off x="3439158" y="6214535"/>
            <a:ext cx="5184648" cy="256032"/>
          </a:xfrm>
        </p:spPr>
        <p:txBody>
          <a:bodyPr/>
          <a:lstStyle>
            <a:lvl1pPr algn="r">
              <a:defRPr>
                <a:solidFill>
                  <a:schemeClr val="tx2"/>
                </a:solidFill>
              </a:defRPr>
            </a:lvl1pPr>
          </a:lstStyle>
          <a:p>
            <a:endParaRPr lang="ru-RU"/>
          </a:p>
        </p:txBody>
      </p:sp>
      <p:sp>
        <p:nvSpPr>
          <p:cNvPr id="7" name="Slide Number Placeholder 6"/>
          <p:cNvSpPr>
            <a:spLocks noGrp="1"/>
          </p:cNvSpPr>
          <p:nvPr>
            <p:ph type="sldNum" sz="quarter" idx="12"/>
          </p:nvPr>
        </p:nvSpPr>
        <p:spPr/>
        <p:txBody>
          <a:bodyPr/>
          <a:lstStyle>
            <a:lvl1pPr>
              <a:defRPr>
                <a:solidFill>
                  <a:schemeClr val="bg2"/>
                </a:solidFill>
              </a:defRPr>
            </a:lvl1pPr>
          </a:lstStyle>
          <a:p>
            <a:fld id="{5E089EBB-B192-455D-8AAB-E585A206F49C}" type="slidenum">
              <a:rPr lang="ru-RU" smtClean="0"/>
              <a:t>‹#›</a:t>
            </a:fld>
            <a:endParaRPr lang="ru-RU"/>
          </a:p>
        </p:txBody>
      </p:sp>
      <p:sp>
        <p:nvSpPr>
          <p:cNvPr id="11" name="Rectangle 10"/>
          <p:cNvSpPr/>
          <p:nvPr/>
        </p:nvSpPr>
        <p:spPr>
          <a:xfrm>
            <a:off x="9157546" y="374904"/>
            <a:ext cx="2651760" cy="6108192"/>
          </a:xfrm>
          <a:prstGeom prst="rect">
            <a:avLst/>
          </a:prstGeom>
          <a:noFill/>
          <a:ln w="6350" cap="sq">
            <a:solidFill>
              <a:schemeClr val="tx1">
                <a:lumMod val="65000"/>
                <a:lumOff val="3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99084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tx1"/>
          </a:solidFill>
          <a:ln w="6350" cap="sq">
            <a:solidFill>
              <a:schemeClr val="tx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157546" y="374904"/>
            <a:ext cx="2651760" cy="6108192"/>
          </a:xfrm>
          <a:prstGeom prst="rect">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chemeClr val="tx1"/>
                </a:solidFill>
                <a:latin typeface="+mj-lt"/>
              </a:defRPr>
            </a:lvl1pPr>
          </a:lstStyle>
          <a:p>
            <a:r>
              <a:rPr lang="ru-RU"/>
              <a:t>Образец заголовка</a:t>
            </a:r>
            <a:endParaRPr lang="en-US" dirty="0"/>
          </a:p>
        </p:txBody>
      </p:sp>
      <p:sp>
        <p:nvSpPr>
          <p:cNvPr id="3" name="Picture Placeholder 2"/>
          <p:cNvSpPr>
            <a:spLocks noGrp="1" noChangeAspect="1"/>
          </p:cNvSpPr>
          <p:nvPr>
            <p:ph type="pic" idx="1"/>
          </p:nvPr>
        </p:nvSpPr>
        <p:spPr>
          <a:xfrm>
            <a:off x="228599" y="237744"/>
            <a:ext cx="8601076" cy="6382512"/>
          </a:xfrm>
          <a:solidFill>
            <a:srgbClr val="808080"/>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6FCB0ADD-1737-4E6F-B14D-7EAC8ED80F19}" type="datetimeFigureOut">
              <a:rPr lang="ru-RU" smtClean="0"/>
              <a:t>29.05.2023</a:t>
            </a:fld>
            <a:endParaRPr lang="ru-RU"/>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ru-RU"/>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E089EBB-B192-455D-8AAB-E585A206F49C}" type="slidenum">
              <a:rPr lang="ru-RU" smtClean="0"/>
              <a:t>‹#›</a:t>
            </a:fld>
            <a:endParaRPr lang="ru-RU"/>
          </a:p>
        </p:txBody>
      </p:sp>
    </p:spTree>
    <p:extLst>
      <p:ext uri="{BB962C8B-B14F-4D97-AF65-F5344CB8AC3E}">
        <p14:creationId xmlns:p14="http://schemas.microsoft.com/office/powerpoint/2010/main" val="3494299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6FCB0ADD-1737-4E6F-B14D-7EAC8ED80F19}" type="datetimeFigureOut">
              <a:rPr lang="ru-RU" smtClean="0"/>
              <a:t>29.05.2023</a:t>
            </a:fld>
            <a:endParaRPr lang="ru-RU"/>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ru-RU"/>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5E089EBB-B192-455D-8AAB-E585A206F49C}" type="slidenum">
              <a:rPr lang="ru-RU" smtClean="0"/>
              <a:t>‹#›</a:t>
            </a:fld>
            <a:endParaRPr lang="ru-RU"/>
          </a:p>
        </p:txBody>
      </p:sp>
    </p:spTree>
    <p:extLst>
      <p:ext uri="{BB962C8B-B14F-4D97-AF65-F5344CB8AC3E}">
        <p14:creationId xmlns:p14="http://schemas.microsoft.com/office/powerpoint/2010/main" val="701287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6FCB0ADD-1737-4E6F-B14D-7EAC8ED80F19}" type="datetimeFigureOut">
              <a:rPr lang="ru-RU" smtClean="0"/>
              <a:t>29.05.2023</a:t>
            </a:fld>
            <a:endParaRPr lang="ru-RU"/>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ru-RU"/>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5E089EBB-B192-455D-8AAB-E585A206F49C}" type="slidenum">
              <a:rPr lang="ru-RU" smtClean="0"/>
              <a:t>‹#›</a:t>
            </a:fld>
            <a:endParaRPr lang="ru-RU"/>
          </a:p>
        </p:txBody>
      </p:sp>
    </p:spTree>
    <p:extLst>
      <p:ext uri="{BB962C8B-B14F-4D97-AF65-F5344CB8AC3E}">
        <p14:creationId xmlns:p14="http://schemas.microsoft.com/office/powerpoint/2010/main" val="6964979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tx1"/>
          </a:solidFill>
          <a:ln w="6350" cap="flat" cmpd="sng" algn="ctr">
            <a:solidFill>
              <a:schemeClr val="tx1">
                <a:lumMod val="75000"/>
              </a:schemeClr>
            </a:solidFill>
            <a:prstDash val="solid"/>
          </a:ln>
          <a:effectLst>
            <a:softEdge rad="0"/>
          </a:effectLst>
        </p:spPr>
      </p:sp>
      <p:sp>
        <p:nvSpPr>
          <p:cNvPr id="8" name="Rectangle 7"/>
          <p:cNvSpPr/>
          <p:nvPr/>
        </p:nvSpPr>
        <p:spPr>
          <a:xfrm>
            <a:off x="371856" y="374904"/>
            <a:ext cx="11448288" cy="6108192"/>
          </a:xfrm>
          <a:prstGeom prst="rect">
            <a:avLst/>
          </a:prstGeom>
          <a:solidFill>
            <a:schemeClr val="bg2"/>
          </a:solidFill>
          <a:ln w="6350" cap="sq" cmpd="sng" algn="ctr">
            <a:no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bg2"/>
                </a:solidFill>
              </a:defRPr>
            </a:lvl1pPr>
          </a:lstStyle>
          <a:p>
            <a:fld id="{6FCB0ADD-1737-4E6F-B14D-7EAC8ED80F19}" type="datetimeFigureOut">
              <a:rPr lang="ru-RU" smtClean="0"/>
              <a:t>29.05.2023</a:t>
            </a:fld>
            <a:endParaRPr lang="ru-RU"/>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bg2"/>
                </a:solidFill>
              </a:defRPr>
            </a:lvl1pPr>
          </a:lstStyle>
          <a:p>
            <a:endParaRPr lang="ru-RU"/>
          </a:p>
        </p:txBody>
      </p:sp>
      <p:sp>
        <p:nvSpPr>
          <p:cNvPr id="6" name="Slide Number Placeholder 5"/>
          <p:cNvSpPr>
            <a:spLocks noGrp="1"/>
          </p:cNvSpPr>
          <p:nvPr>
            <p:ph type="sldNum" sz="quarter" idx="4"/>
          </p:nvPr>
        </p:nvSpPr>
        <p:spPr>
          <a:xfrm>
            <a:off x="10348535" y="6214535"/>
            <a:ext cx="1463040" cy="256032"/>
          </a:xfrm>
          <a:prstGeom prst="rect">
            <a:avLst/>
          </a:prstGeom>
        </p:spPr>
        <p:txBody>
          <a:bodyPr vert="horz" lIns="91440" tIns="45720" rIns="91440" bIns="45720" rtlCol="0" anchor="b"/>
          <a:lstStyle>
            <a:lvl1pPr algn="r">
              <a:defRPr sz="1000">
                <a:solidFill>
                  <a:schemeClr val="bg2"/>
                </a:solidFill>
              </a:defRPr>
            </a:lvl1pPr>
          </a:lstStyle>
          <a:p>
            <a:fld id="{5E089EBB-B192-455D-8AAB-E585A206F49C}" type="slidenum">
              <a:rPr lang="ru-RU" smtClean="0"/>
              <a:t>‹#›</a:t>
            </a:fld>
            <a:endParaRPr lang="ru-RU"/>
          </a:p>
        </p:txBody>
      </p:sp>
    </p:spTree>
    <p:extLst>
      <p:ext uri="{BB962C8B-B14F-4D97-AF65-F5344CB8AC3E}">
        <p14:creationId xmlns:p14="http://schemas.microsoft.com/office/powerpoint/2010/main" val="1807531287"/>
      </p:ext>
    </p:extLst>
  </p:cSld>
  <p:clrMap bg1="dk1" tx1="lt1" bg2="dk2" tx2="lt2" accent1="accent1" accent2="accent2" accent3="accent3" accent4="accent4" accent5="accent5" accent6="accent6" hlink="hlink" folHlink="folHlink"/>
  <p:sldLayoutIdLst>
    <p:sldLayoutId id="2147483855" r:id="rId1"/>
    <p:sldLayoutId id="2147483856" r:id="rId2"/>
    <p:sldLayoutId id="2147483857" r:id="rId3"/>
    <p:sldLayoutId id="2147483858" r:id="rId4"/>
    <p:sldLayoutId id="2147483859" r:id="rId5"/>
    <p:sldLayoutId id="2147483860" r:id="rId6"/>
    <p:sldLayoutId id="2147483861" r:id="rId7"/>
    <p:sldLayoutId id="2147483862" r:id="rId8"/>
    <p:sldLayoutId id="2147483863" r:id="rId9"/>
    <p:sldLayoutId id="2147483864" r:id="rId10"/>
    <p:sldLayoutId id="2147483865" r:id="rId11"/>
  </p:sldLayoutIdLst>
  <p:txStyles>
    <p:titleStyle>
      <a:lvl1pPr algn="l" defTabSz="914400" rtl="0" eaLnBrk="1" latinLnBrk="0" hangingPunct="1">
        <a:lnSpc>
          <a:spcPct val="90000"/>
        </a:lnSpc>
        <a:spcBef>
          <a:spcPct val="0"/>
        </a:spcBef>
        <a:buNone/>
        <a:defRPr lang="en-US" sz="4800" kern="1200" cap="none" spc="0" baseline="0" dirty="0">
          <a:solidFill>
            <a:schemeClr val="tx1"/>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2">
            <a:lumMod val="60000"/>
            <a:lumOff val="40000"/>
          </a:schemeClr>
        </a:buClr>
        <a:buFont typeface="Arial" pitchFamily="34"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6pPr>
      <a:lvl7pPr marL="19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7pPr>
      <a:lvl8pPr marL="22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8pPr>
      <a:lvl9pPr marL="25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E8EB9C-896E-4CED-9AD0-6DF2B5718393}"/>
              </a:ext>
            </a:extLst>
          </p:cNvPr>
          <p:cNvSpPr>
            <a:spLocks noGrp="1"/>
          </p:cNvSpPr>
          <p:nvPr>
            <p:ph type="ctrTitle"/>
          </p:nvPr>
        </p:nvSpPr>
        <p:spPr/>
        <p:txBody>
          <a:bodyPr/>
          <a:lstStyle/>
          <a:p>
            <a:r>
              <a:rPr lang="ru-RU" sz="5400" b="1" dirty="0"/>
              <a:t>Отчет о производственной практики</a:t>
            </a:r>
          </a:p>
        </p:txBody>
      </p:sp>
      <p:sp>
        <p:nvSpPr>
          <p:cNvPr id="3" name="Подзаголовок 2">
            <a:extLst>
              <a:ext uri="{FF2B5EF4-FFF2-40B4-BE49-F238E27FC236}">
                <a16:creationId xmlns:a16="http://schemas.microsoft.com/office/drawing/2014/main" id="{C53FF354-20A1-4999-BB0A-BB7DE313E3DD}"/>
              </a:ext>
            </a:extLst>
          </p:cNvPr>
          <p:cNvSpPr>
            <a:spLocks noGrp="1"/>
          </p:cNvSpPr>
          <p:nvPr>
            <p:ph type="subTitle" idx="1"/>
          </p:nvPr>
        </p:nvSpPr>
        <p:spPr>
          <a:xfrm>
            <a:off x="1562100" y="4682062"/>
            <a:ext cx="9070848" cy="752580"/>
          </a:xfrm>
        </p:spPr>
        <p:txBody>
          <a:bodyPr>
            <a:normAutofit fontScale="92500" lnSpcReduction="10000"/>
          </a:bodyPr>
          <a:lstStyle/>
          <a:p>
            <a:pPr algn="r"/>
            <a:r>
              <a:rPr lang="ru-RU" b="1" dirty="0">
                <a:solidFill>
                  <a:schemeClr val="tx1"/>
                </a:solidFill>
              </a:rPr>
              <a:t>Студент: </a:t>
            </a:r>
            <a:r>
              <a:rPr lang="ru-RU" b="1" dirty="0" err="1">
                <a:solidFill>
                  <a:schemeClr val="tx1"/>
                </a:solidFill>
              </a:rPr>
              <a:t>Атаев</a:t>
            </a:r>
            <a:r>
              <a:rPr lang="ru-RU" b="1" dirty="0">
                <a:solidFill>
                  <a:schemeClr val="tx1"/>
                </a:solidFill>
              </a:rPr>
              <a:t> </a:t>
            </a:r>
            <a:r>
              <a:rPr lang="ru-RU" b="1" dirty="0" err="1">
                <a:solidFill>
                  <a:schemeClr val="tx1"/>
                </a:solidFill>
              </a:rPr>
              <a:t>Майис</a:t>
            </a:r>
            <a:endParaRPr lang="ru-RU" b="1" dirty="0">
              <a:solidFill>
                <a:schemeClr val="tx1"/>
              </a:solidFill>
            </a:endParaRPr>
          </a:p>
          <a:p>
            <a:pPr algn="r"/>
            <a:r>
              <a:rPr lang="ru-RU" b="1" dirty="0">
                <a:solidFill>
                  <a:schemeClr val="tx1"/>
                </a:solidFill>
              </a:rPr>
              <a:t>Факультет: Информационные технологии и управление</a:t>
            </a:r>
          </a:p>
          <a:p>
            <a:pPr algn="r"/>
            <a:r>
              <a:rPr lang="ru-RU" b="1" dirty="0">
                <a:solidFill>
                  <a:schemeClr val="tx1"/>
                </a:solidFill>
              </a:rPr>
              <a:t>Группа: 684.19</a:t>
            </a:r>
          </a:p>
          <a:p>
            <a:endParaRPr lang="ru-RU" dirty="0"/>
          </a:p>
        </p:txBody>
      </p:sp>
      <p:pic>
        <p:nvPicPr>
          <p:cNvPr id="4" name="Рисунок 3">
            <a:extLst>
              <a:ext uri="{FF2B5EF4-FFF2-40B4-BE49-F238E27FC236}">
                <a16:creationId xmlns:a16="http://schemas.microsoft.com/office/drawing/2014/main" id="{0F92934D-6873-49EB-9664-7B49EDBA3279}"/>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59054" y="1520755"/>
            <a:ext cx="1141015" cy="1141015"/>
          </a:xfrm>
          <a:prstGeom prst="rect">
            <a:avLst/>
          </a:prstGeom>
          <a:noFill/>
        </p:spPr>
      </p:pic>
    </p:spTree>
    <p:extLst>
      <p:ext uri="{BB962C8B-B14F-4D97-AF65-F5344CB8AC3E}">
        <p14:creationId xmlns:p14="http://schemas.microsoft.com/office/powerpoint/2010/main" val="4216371341"/>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2B7287-A60A-497B-9B0E-7386ACEE8481}"/>
              </a:ext>
            </a:extLst>
          </p:cNvPr>
          <p:cNvSpPr>
            <a:spLocks noGrp="1"/>
          </p:cNvSpPr>
          <p:nvPr>
            <p:ph type="title"/>
          </p:nvPr>
        </p:nvSpPr>
        <p:spPr/>
        <p:txBody>
          <a:bodyPr/>
          <a:lstStyle/>
          <a:p>
            <a:r>
              <a:rPr lang="ru-RU" b="1" dirty="0"/>
              <a:t>Компания</a:t>
            </a:r>
          </a:p>
        </p:txBody>
      </p:sp>
      <p:sp>
        <p:nvSpPr>
          <p:cNvPr id="3" name="Объект 2">
            <a:extLst>
              <a:ext uri="{FF2B5EF4-FFF2-40B4-BE49-F238E27FC236}">
                <a16:creationId xmlns:a16="http://schemas.microsoft.com/office/drawing/2014/main" id="{0DD863F2-788F-4DCD-9479-5254B5A78703}"/>
              </a:ext>
            </a:extLst>
          </p:cNvPr>
          <p:cNvSpPr>
            <a:spLocks noGrp="1"/>
          </p:cNvSpPr>
          <p:nvPr>
            <p:ph idx="1"/>
          </p:nvPr>
        </p:nvSpPr>
        <p:spPr>
          <a:xfrm>
            <a:off x="1066800" y="2001328"/>
            <a:ext cx="5029200" cy="4019910"/>
          </a:xfrm>
        </p:spPr>
        <p:txBody>
          <a:bodyPr>
            <a:normAutofit fontScale="77500" lnSpcReduction="20000"/>
          </a:bodyPr>
          <a:lstStyle/>
          <a:p>
            <a:pPr marL="0" indent="0">
              <a:buNone/>
            </a:pPr>
            <a:r>
              <a:rPr lang="ru-RU" b="1" dirty="0"/>
              <a:t>Компания </a:t>
            </a:r>
            <a:r>
              <a:rPr lang="ru-RU" b="1" dirty="0" err="1"/>
              <a:t>Royal</a:t>
            </a:r>
            <a:r>
              <a:rPr lang="ru-RU" b="1" dirty="0"/>
              <a:t> </a:t>
            </a:r>
            <a:r>
              <a:rPr lang="ru-RU" b="1" dirty="0" err="1"/>
              <a:t>Dutch</a:t>
            </a:r>
            <a:r>
              <a:rPr lang="ru-RU" b="1" dirty="0"/>
              <a:t> LV </a:t>
            </a:r>
            <a:r>
              <a:rPr lang="ru-RU" b="1" dirty="0" err="1"/>
              <a:t>Logistics</a:t>
            </a:r>
            <a:r>
              <a:rPr lang="ru-RU" b="1" dirty="0"/>
              <a:t> была основана в 1921 году в Нидерландах под названием J. </a:t>
            </a:r>
            <a:r>
              <a:rPr lang="ru-RU" b="1" dirty="0" err="1"/>
              <a:t>Lensveld</a:t>
            </a:r>
            <a:r>
              <a:rPr lang="ru-RU" b="1" dirty="0"/>
              <a:t> &amp; </a:t>
            </a:r>
            <a:r>
              <a:rPr lang="ru-RU" b="1" dirty="0" err="1"/>
              <a:t>Zonen</a:t>
            </a:r>
            <a:r>
              <a:rPr lang="ru-RU" b="1" dirty="0"/>
              <a:t> B.V. Главный офис до сих пор находится в городе </a:t>
            </a:r>
            <a:r>
              <a:rPr lang="ru-RU" b="1" dirty="0" err="1"/>
              <a:t>Влаардинген</a:t>
            </a:r>
            <a:r>
              <a:rPr lang="ru-RU" b="1" dirty="0"/>
              <a:t>, </a:t>
            </a:r>
            <a:r>
              <a:rPr lang="ru-RU" b="1" dirty="0" err="1"/>
              <a:t>Нидерланды.В</a:t>
            </a:r>
            <a:r>
              <a:rPr lang="ru-RU" b="1" dirty="0"/>
              <a:t> 1977 году было открыто новое отделение по производству прицепов для паромов под названием </a:t>
            </a:r>
            <a:r>
              <a:rPr lang="ru-RU" b="1" dirty="0" err="1"/>
              <a:t>Elvex</a:t>
            </a:r>
            <a:r>
              <a:rPr lang="ru-RU" b="1" dirty="0"/>
              <a:t>. Вскоре после этого был открыт первый офис в Великобритании в городе </a:t>
            </a:r>
            <a:r>
              <a:rPr lang="ru-RU" b="1" dirty="0" err="1"/>
              <a:t>Ширнес</a:t>
            </a:r>
            <a:r>
              <a:rPr lang="ru-RU" b="1" dirty="0"/>
              <a:t>. Компания LV </a:t>
            </a:r>
            <a:r>
              <a:rPr lang="ru-RU" b="1" dirty="0" err="1"/>
              <a:t>Logistics</a:t>
            </a:r>
            <a:r>
              <a:rPr lang="ru-RU" b="1" dirty="0"/>
              <a:t> </a:t>
            </a:r>
            <a:r>
              <a:rPr lang="ru-RU" b="1" dirty="0" err="1"/>
              <a:t>Ltd</a:t>
            </a:r>
            <a:r>
              <a:rPr lang="ru-RU" b="1" dirty="0"/>
              <a:t> была официально создана в 1986 году для выполнения крупных контрактов по экспедированию нефтяных и нефтехимических грузов в Северном море. Сейчас 11 офисов компании стратегически расположены вдоль восточного побережья Шотландии и </a:t>
            </a:r>
            <a:r>
              <a:rPr lang="ru-RU" b="1" dirty="0" err="1"/>
              <a:t>Англии.В</a:t>
            </a:r>
            <a:r>
              <a:rPr lang="ru-RU" b="1" dirty="0"/>
              <a:t> последние годы мы открыли офисы, например, в Сингапуре, США и Саудовской Аравии. Эта растущая сеть собственных офисов и специализированных агентов предлагает вам полный спектр логистических услуг. Вместе с нашими объектами и международными командами специалистов мы готовы предложить вам индивидуальное обслуживание, соответствующее самым высоким отраслевым стандартам. </a:t>
            </a:r>
          </a:p>
        </p:txBody>
      </p:sp>
      <p:pic>
        <p:nvPicPr>
          <p:cNvPr id="2050" name="Picture 2">
            <a:extLst>
              <a:ext uri="{FF2B5EF4-FFF2-40B4-BE49-F238E27FC236}">
                <a16:creationId xmlns:a16="http://schemas.microsoft.com/office/drawing/2014/main" id="{1CAAD7D8-4154-4195-AEC7-B153E7DF7A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014195"/>
            <a:ext cx="5029200" cy="192398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CD68891E-FA36-4A40-BBC2-6219BC245B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938177"/>
            <a:ext cx="5029200" cy="1923982"/>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Azerbaijan - Royal Dutch LV Logistics">
            <a:extLst>
              <a:ext uri="{FF2B5EF4-FFF2-40B4-BE49-F238E27FC236}">
                <a16:creationId xmlns:a16="http://schemas.microsoft.com/office/drawing/2014/main" id="{D6059AD4-A6B1-4437-BC86-5A24F54B97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37" y="685961"/>
            <a:ext cx="2150763" cy="938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689183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D3D88B-7C4F-44AE-9D35-AF5202C81EB1}"/>
              </a:ext>
            </a:extLst>
          </p:cNvPr>
          <p:cNvSpPr>
            <a:spLocks noGrp="1"/>
          </p:cNvSpPr>
          <p:nvPr>
            <p:ph type="title"/>
          </p:nvPr>
        </p:nvSpPr>
        <p:spPr/>
        <p:txBody>
          <a:bodyPr>
            <a:normAutofit/>
          </a:bodyPr>
          <a:lstStyle/>
          <a:p>
            <a:r>
              <a:rPr lang="ru-RU" b="1" dirty="0"/>
              <a:t>Введение</a:t>
            </a:r>
          </a:p>
        </p:txBody>
      </p:sp>
      <p:sp>
        <p:nvSpPr>
          <p:cNvPr id="3" name="Объект 2">
            <a:extLst>
              <a:ext uri="{FF2B5EF4-FFF2-40B4-BE49-F238E27FC236}">
                <a16:creationId xmlns:a16="http://schemas.microsoft.com/office/drawing/2014/main" id="{24F70F9F-E7EA-4A15-A25D-B82BE97DF022}"/>
              </a:ext>
            </a:extLst>
          </p:cNvPr>
          <p:cNvSpPr>
            <a:spLocks noGrp="1"/>
          </p:cNvSpPr>
          <p:nvPr>
            <p:ph idx="1"/>
          </p:nvPr>
        </p:nvSpPr>
        <p:spPr>
          <a:xfrm>
            <a:off x="1066800" y="2103120"/>
            <a:ext cx="10058400" cy="3931920"/>
          </a:xfrm>
        </p:spPr>
        <p:txBody>
          <a:bodyPr>
            <a:normAutofit lnSpcReduction="10000"/>
          </a:bodyPr>
          <a:lstStyle/>
          <a:p>
            <a:pPr marL="0" indent="0" algn="just">
              <a:buNone/>
            </a:pPr>
            <a:r>
              <a:rPr lang="ru-RU" b="1" i="1" u="sng" dirty="0"/>
              <a:t>Цель данного отчета </a:t>
            </a:r>
            <a:r>
              <a:rPr lang="ru-RU" b="1" dirty="0"/>
              <a:t>заключается в исследовании и анализе данных о пассажирах Титаника с использованием методов машинного обучения для создания модели, способной прогнозировать вероятность выживания пассажиров на основе имеющихся данных. Прогнозирование выживаемости на Титанике может иметь практическую значимость, так как позволяет определить, какие группы людей имеют больше шансов на спасение в случае подобной катастрофы.</a:t>
            </a:r>
          </a:p>
          <a:p>
            <a:pPr marL="0" indent="0" algn="just">
              <a:buNone/>
            </a:pPr>
            <a:r>
              <a:rPr lang="ru-RU" b="1" i="1" u="sng" dirty="0"/>
              <a:t>Для достижения поставленной цели </a:t>
            </a:r>
            <a:r>
              <a:rPr lang="ru-RU" b="1" dirty="0"/>
              <a:t>предполагается использование различных алгоритмов машинного обучения, таких как логистическая регрессия, деревья решений и случайный лес. Также будет проведен анализ различных факторов, влияющих на выживаемость, таких как пол, возраст, класс билета и наличие членов семьи на борту.</a:t>
            </a:r>
          </a:p>
          <a:p>
            <a:pPr marL="0" indent="0" algn="just">
              <a:buNone/>
            </a:pPr>
            <a:r>
              <a:rPr lang="ru-RU" b="1" i="1" u="sng" dirty="0"/>
              <a:t>Результаты данного исследования </a:t>
            </a:r>
            <a:r>
              <a:rPr lang="ru-RU" b="1" dirty="0"/>
              <a:t>могут иметь практическое применение не только в контексте исторической катастрофы на Титанике, но и в других областях, связанных с прогнозированием выживаемости в экстремальных ситуациях.</a:t>
            </a:r>
          </a:p>
          <a:p>
            <a:pPr marL="0" indent="0">
              <a:buNone/>
            </a:pPr>
            <a:endParaRPr lang="ru-RU" dirty="0"/>
          </a:p>
          <a:p>
            <a:pPr marL="0" indent="0">
              <a:buNone/>
            </a:pPr>
            <a:endParaRPr lang="ru-RU" dirty="0"/>
          </a:p>
        </p:txBody>
      </p:sp>
    </p:spTree>
    <p:extLst>
      <p:ext uri="{BB962C8B-B14F-4D97-AF65-F5344CB8AC3E}">
        <p14:creationId xmlns:p14="http://schemas.microsoft.com/office/powerpoint/2010/main" val="823331549"/>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D3D88B-7C4F-44AE-9D35-AF5202C81EB1}"/>
              </a:ext>
            </a:extLst>
          </p:cNvPr>
          <p:cNvSpPr>
            <a:spLocks noGrp="1"/>
          </p:cNvSpPr>
          <p:nvPr>
            <p:ph type="title"/>
          </p:nvPr>
        </p:nvSpPr>
        <p:spPr/>
        <p:txBody>
          <a:bodyPr>
            <a:normAutofit fontScale="90000"/>
          </a:bodyPr>
          <a:lstStyle/>
          <a:p>
            <a:r>
              <a:rPr lang="ru-RU" b="1" dirty="0"/>
              <a:t>Загрузка данных и пропущенные значения</a:t>
            </a:r>
          </a:p>
        </p:txBody>
      </p:sp>
      <p:sp>
        <p:nvSpPr>
          <p:cNvPr id="3" name="Объект 2">
            <a:extLst>
              <a:ext uri="{FF2B5EF4-FFF2-40B4-BE49-F238E27FC236}">
                <a16:creationId xmlns:a16="http://schemas.microsoft.com/office/drawing/2014/main" id="{24F70F9F-E7EA-4A15-A25D-B82BE97DF022}"/>
              </a:ext>
            </a:extLst>
          </p:cNvPr>
          <p:cNvSpPr>
            <a:spLocks noGrp="1"/>
          </p:cNvSpPr>
          <p:nvPr>
            <p:ph idx="1"/>
          </p:nvPr>
        </p:nvSpPr>
        <p:spPr>
          <a:xfrm>
            <a:off x="1066800" y="2103120"/>
            <a:ext cx="5029200" cy="3931920"/>
          </a:xfrm>
        </p:spPr>
        <p:txBody>
          <a:bodyPr/>
          <a:lstStyle/>
          <a:p>
            <a:pPr marL="0" indent="0">
              <a:buNone/>
            </a:pPr>
            <a:r>
              <a:rPr lang="en-US" b="1" dirty="0" err="1"/>
              <a:t>trd</a:t>
            </a:r>
            <a:r>
              <a:rPr lang="en-US" b="1" dirty="0"/>
              <a:t> = </a:t>
            </a:r>
            <a:r>
              <a:rPr lang="en-US" b="1" dirty="0" err="1"/>
              <a:t>pd.read_csv</a:t>
            </a:r>
            <a:r>
              <a:rPr lang="en-US" b="1" dirty="0"/>
              <a:t>('train.csv')</a:t>
            </a:r>
          </a:p>
          <a:p>
            <a:pPr marL="0" indent="0">
              <a:buNone/>
            </a:pPr>
            <a:r>
              <a:rPr lang="en-US" b="1" dirty="0" err="1"/>
              <a:t>tsd</a:t>
            </a:r>
            <a:r>
              <a:rPr lang="en-US" b="1" dirty="0"/>
              <a:t> = </a:t>
            </a:r>
            <a:r>
              <a:rPr lang="en-US" b="1" dirty="0" err="1"/>
              <a:t>pd.read_csv</a:t>
            </a:r>
            <a:r>
              <a:rPr lang="en-US" b="1" dirty="0"/>
              <a:t>('test.csv')</a:t>
            </a:r>
          </a:p>
          <a:p>
            <a:pPr marL="0" indent="0">
              <a:buNone/>
            </a:pPr>
            <a:r>
              <a:rPr lang="en-US" b="1" dirty="0"/>
              <a:t>td = </a:t>
            </a:r>
            <a:r>
              <a:rPr lang="en-US" b="1" dirty="0" err="1"/>
              <a:t>pd.concat</a:t>
            </a:r>
            <a:r>
              <a:rPr lang="en-US" b="1" dirty="0"/>
              <a:t>([</a:t>
            </a:r>
            <a:r>
              <a:rPr lang="en-US" b="1" dirty="0" err="1"/>
              <a:t>trd</a:t>
            </a:r>
            <a:r>
              <a:rPr lang="en-US" b="1" dirty="0"/>
              <a:t>, </a:t>
            </a:r>
            <a:r>
              <a:rPr lang="en-US" b="1" dirty="0" err="1"/>
              <a:t>tsd</a:t>
            </a:r>
            <a:r>
              <a:rPr lang="en-US" b="1" dirty="0"/>
              <a:t>], </a:t>
            </a:r>
            <a:r>
              <a:rPr lang="en-US" b="1" dirty="0" err="1"/>
              <a:t>ignore_index</a:t>
            </a:r>
            <a:r>
              <a:rPr lang="en-US" b="1" dirty="0"/>
              <a:t>=True, sort = False)</a:t>
            </a:r>
            <a:endParaRPr lang="ru-RU" b="1" dirty="0"/>
          </a:p>
          <a:p>
            <a:pPr marL="0" indent="0">
              <a:buNone/>
            </a:pPr>
            <a:endParaRPr lang="ru-RU" b="1" dirty="0"/>
          </a:p>
          <a:p>
            <a:pPr marL="0" indent="0">
              <a:buNone/>
            </a:pPr>
            <a:r>
              <a:rPr lang="en-US" b="1" dirty="0" err="1"/>
              <a:t>td.isnull</a:t>
            </a:r>
            <a:r>
              <a:rPr lang="en-US" b="1" dirty="0"/>
              <a:t>().sum()</a:t>
            </a:r>
          </a:p>
          <a:p>
            <a:pPr marL="0" indent="0">
              <a:buNone/>
            </a:pPr>
            <a:r>
              <a:rPr lang="en-US" b="1" dirty="0" err="1"/>
              <a:t>sns.heatmap</a:t>
            </a:r>
            <a:r>
              <a:rPr lang="en-US" b="1" dirty="0"/>
              <a:t>(</a:t>
            </a:r>
            <a:r>
              <a:rPr lang="en-US" b="1" dirty="0" err="1"/>
              <a:t>td.isnull</a:t>
            </a:r>
            <a:r>
              <a:rPr lang="en-US" b="1" dirty="0"/>
              <a:t>(), cbar = False).</a:t>
            </a:r>
            <a:r>
              <a:rPr lang="en-US" b="1" dirty="0" err="1"/>
              <a:t>set_title</a:t>
            </a:r>
            <a:r>
              <a:rPr lang="en-US" b="1" dirty="0"/>
              <a:t>("Missing values heatmap")</a:t>
            </a:r>
            <a:endParaRPr lang="ru-RU" b="1" dirty="0"/>
          </a:p>
          <a:p>
            <a:pPr marL="0" indent="0">
              <a:buNone/>
            </a:pPr>
            <a:endParaRPr lang="ru-RU" dirty="0"/>
          </a:p>
          <a:p>
            <a:pPr marL="0" indent="0">
              <a:buNone/>
            </a:pPr>
            <a:endParaRPr lang="ru-RU" dirty="0"/>
          </a:p>
        </p:txBody>
      </p:sp>
      <p:pic>
        <p:nvPicPr>
          <p:cNvPr id="7" name="Рисунок 6">
            <a:extLst>
              <a:ext uri="{FF2B5EF4-FFF2-40B4-BE49-F238E27FC236}">
                <a16:creationId xmlns:a16="http://schemas.microsoft.com/office/drawing/2014/main" id="{D8366FF1-C160-4AB4-8BEC-694E29E4D2B9}"/>
              </a:ext>
            </a:extLst>
          </p:cNvPr>
          <p:cNvPicPr/>
          <p:nvPr/>
        </p:nvPicPr>
        <p:blipFill>
          <a:blip r:embed="rId2"/>
          <a:stretch>
            <a:fillRect/>
          </a:stretch>
        </p:blipFill>
        <p:spPr>
          <a:xfrm>
            <a:off x="6096000" y="2014195"/>
            <a:ext cx="5034041" cy="3592976"/>
          </a:xfrm>
          <a:prstGeom prst="rect">
            <a:avLst/>
          </a:prstGeom>
        </p:spPr>
      </p:pic>
    </p:spTree>
    <p:extLst>
      <p:ext uri="{BB962C8B-B14F-4D97-AF65-F5344CB8AC3E}">
        <p14:creationId xmlns:p14="http://schemas.microsoft.com/office/powerpoint/2010/main" val="3467631398"/>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49DC3721-C345-4812-9516-5E0348E0271E}"/>
              </a:ext>
            </a:extLst>
          </p:cNvPr>
          <p:cNvSpPr>
            <a:spLocks noGrp="1"/>
          </p:cNvSpPr>
          <p:nvPr>
            <p:ph type="title"/>
          </p:nvPr>
        </p:nvSpPr>
        <p:spPr/>
        <p:txBody>
          <a:bodyPr/>
          <a:lstStyle/>
          <a:p>
            <a:r>
              <a:rPr lang="ru-RU" sz="6000" b="1" dirty="0"/>
              <a:t>Признаки</a:t>
            </a:r>
          </a:p>
        </p:txBody>
      </p:sp>
    </p:spTree>
    <p:extLst>
      <p:ext uri="{BB962C8B-B14F-4D97-AF65-F5344CB8AC3E}">
        <p14:creationId xmlns:p14="http://schemas.microsoft.com/office/powerpoint/2010/main" val="2905109255"/>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DF68F74-2849-4EB9-BE87-08AA6E843F9F}"/>
              </a:ext>
            </a:extLst>
          </p:cNvPr>
          <p:cNvSpPr>
            <a:spLocks noGrp="1"/>
          </p:cNvSpPr>
          <p:nvPr>
            <p:ph type="title"/>
          </p:nvPr>
        </p:nvSpPr>
        <p:spPr/>
        <p:txBody>
          <a:bodyPr>
            <a:normAutofit/>
          </a:bodyPr>
          <a:lstStyle/>
          <a:p>
            <a:r>
              <a:rPr lang="en-US" b="1" dirty="0" err="1"/>
              <a:t>Pclass</a:t>
            </a:r>
            <a:endParaRPr lang="ru-RU" b="1" dirty="0"/>
          </a:p>
        </p:txBody>
      </p:sp>
      <p:sp>
        <p:nvSpPr>
          <p:cNvPr id="3" name="Объект 2">
            <a:extLst>
              <a:ext uri="{FF2B5EF4-FFF2-40B4-BE49-F238E27FC236}">
                <a16:creationId xmlns:a16="http://schemas.microsoft.com/office/drawing/2014/main" id="{DBC93369-B3E8-490A-8365-013F22146B1A}"/>
              </a:ext>
            </a:extLst>
          </p:cNvPr>
          <p:cNvSpPr>
            <a:spLocks noGrp="1"/>
          </p:cNvSpPr>
          <p:nvPr>
            <p:ph idx="1"/>
          </p:nvPr>
        </p:nvSpPr>
        <p:spPr>
          <a:xfrm>
            <a:off x="1066800" y="2103120"/>
            <a:ext cx="5029200" cy="3931920"/>
          </a:xfrm>
        </p:spPr>
        <p:txBody>
          <a:bodyPr/>
          <a:lstStyle/>
          <a:p>
            <a:pPr marL="0" indent="0">
              <a:buNone/>
            </a:pPr>
            <a:r>
              <a:rPr lang="ru-RU" b="1" dirty="0"/>
              <a:t>Этот признак показывает класс, которым следовал пассажир. Пассажиры могли выбрать из трех отдельных классов, а именно: класс 1, класс 2 и класс 3. Третий класс имел наибольшее количество пассажиров, затем класс 2 и класс 1. Количество пассажиров в третьем классе было больше, чем количество пассажиров в первом и втором классе вместе взятых. Вероятность выживания пассажира класса 1 была выше, чем пассажира класса 2 и класса 3.</a:t>
            </a:r>
          </a:p>
        </p:txBody>
      </p:sp>
      <p:pic>
        <p:nvPicPr>
          <p:cNvPr id="4" name="Рисунок 3">
            <a:extLst>
              <a:ext uri="{FF2B5EF4-FFF2-40B4-BE49-F238E27FC236}">
                <a16:creationId xmlns:a16="http://schemas.microsoft.com/office/drawing/2014/main" id="{696A479A-F377-4485-B3AD-FE1CA7E023BA}"/>
              </a:ext>
            </a:extLst>
          </p:cNvPr>
          <p:cNvPicPr/>
          <p:nvPr/>
        </p:nvPicPr>
        <p:blipFill>
          <a:blip r:embed="rId2"/>
          <a:stretch>
            <a:fillRect/>
          </a:stretch>
        </p:blipFill>
        <p:spPr>
          <a:xfrm>
            <a:off x="6096000" y="2172131"/>
            <a:ext cx="5029200" cy="3425704"/>
          </a:xfrm>
          <a:prstGeom prst="rect">
            <a:avLst/>
          </a:prstGeom>
        </p:spPr>
      </p:pic>
    </p:spTree>
    <p:extLst>
      <p:ext uri="{BB962C8B-B14F-4D97-AF65-F5344CB8AC3E}">
        <p14:creationId xmlns:p14="http://schemas.microsoft.com/office/powerpoint/2010/main" val="3693767815"/>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75941F6-C001-49CB-8454-CA0E7B5F9F8D}"/>
              </a:ext>
            </a:extLst>
          </p:cNvPr>
          <p:cNvSpPr>
            <a:spLocks noGrp="1"/>
          </p:cNvSpPr>
          <p:nvPr>
            <p:ph type="title"/>
          </p:nvPr>
        </p:nvSpPr>
        <p:spPr/>
        <p:txBody>
          <a:bodyPr/>
          <a:lstStyle/>
          <a:p>
            <a:r>
              <a:rPr lang="az-Latn-AZ" b="1" dirty="0"/>
              <a:t>Age</a:t>
            </a:r>
            <a:endParaRPr lang="ru-RU" b="1" dirty="0"/>
          </a:p>
        </p:txBody>
      </p:sp>
      <p:sp>
        <p:nvSpPr>
          <p:cNvPr id="3" name="Объект 2">
            <a:extLst>
              <a:ext uri="{FF2B5EF4-FFF2-40B4-BE49-F238E27FC236}">
                <a16:creationId xmlns:a16="http://schemas.microsoft.com/office/drawing/2014/main" id="{8988B866-B14A-4EDE-9EE5-858FD0018CF7}"/>
              </a:ext>
            </a:extLst>
          </p:cNvPr>
          <p:cNvSpPr>
            <a:spLocks noGrp="1"/>
          </p:cNvSpPr>
          <p:nvPr>
            <p:ph idx="1"/>
          </p:nvPr>
        </p:nvSpPr>
        <p:spPr>
          <a:xfrm>
            <a:off x="1066800" y="2103120"/>
            <a:ext cx="5029200" cy="3931920"/>
          </a:xfrm>
        </p:spPr>
        <p:txBody>
          <a:bodyPr/>
          <a:lstStyle/>
          <a:p>
            <a:pPr marL="0" indent="0">
              <a:buNone/>
            </a:pPr>
            <a:r>
              <a:rPr lang="ru-RU" b="1" dirty="0"/>
              <a:t>Самому молодому путешественнику на борту было около двух месяцев, а самому старшему — 80 лет. Средний возраст пассажиров на борту был чуть менее 30 лет. Большая часть детей в возрасте до 10 лет выжила. В любой другой возрастной группе число жертв было выше, чем число выживших. Более 140 человек в возрастной группе 20-30 лет погибли в сравнении с примерно 80 выжившими того же возраста.</a:t>
            </a:r>
          </a:p>
        </p:txBody>
      </p:sp>
      <p:pic>
        <p:nvPicPr>
          <p:cNvPr id="4" name="Рисунок 3">
            <a:extLst>
              <a:ext uri="{FF2B5EF4-FFF2-40B4-BE49-F238E27FC236}">
                <a16:creationId xmlns:a16="http://schemas.microsoft.com/office/drawing/2014/main" id="{265CA9C6-06C8-4168-9986-16C5AB90130A}"/>
              </a:ext>
            </a:extLst>
          </p:cNvPr>
          <p:cNvPicPr/>
          <p:nvPr/>
        </p:nvPicPr>
        <p:blipFill>
          <a:blip r:embed="rId2"/>
          <a:stretch>
            <a:fillRect/>
          </a:stretch>
        </p:blipFill>
        <p:spPr>
          <a:xfrm>
            <a:off x="6096000" y="2223890"/>
            <a:ext cx="5029200" cy="2857069"/>
          </a:xfrm>
          <a:prstGeom prst="rect">
            <a:avLst/>
          </a:prstGeom>
        </p:spPr>
      </p:pic>
    </p:spTree>
    <p:extLst>
      <p:ext uri="{BB962C8B-B14F-4D97-AF65-F5344CB8AC3E}">
        <p14:creationId xmlns:p14="http://schemas.microsoft.com/office/powerpoint/2010/main" val="2276991606"/>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93C4E9-8B9E-4BC3-8EA6-A71B5A604302}"/>
              </a:ext>
            </a:extLst>
          </p:cNvPr>
          <p:cNvSpPr>
            <a:spLocks noGrp="1"/>
          </p:cNvSpPr>
          <p:nvPr>
            <p:ph type="title"/>
          </p:nvPr>
        </p:nvSpPr>
        <p:spPr/>
        <p:txBody>
          <a:bodyPr>
            <a:normAutofit/>
          </a:bodyPr>
          <a:lstStyle/>
          <a:p>
            <a:r>
              <a:rPr lang="en-US" b="1" dirty="0" err="1"/>
              <a:t>SibSp</a:t>
            </a:r>
            <a:endParaRPr lang="ru-RU" b="1" dirty="0"/>
          </a:p>
        </p:txBody>
      </p:sp>
      <p:sp>
        <p:nvSpPr>
          <p:cNvPr id="3" name="Объект 2">
            <a:extLst>
              <a:ext uri="{FF2B5EF4-FFF2-40B4-BE49-F238E27FC236}">
                <a16:creationId xmlns:a16="http://schemas.microsoft.com/office/drawing/2014/main" id="{5CE91A07-0EF6-471A-B008-029762DBD84C}"/>
              </a:ext>
            </a:extLst>
          </p:cNvPr>
          <p:cNvSpPr>
            <a:spLocks noGrp="1"/>
          </p:cNvSpPr>
          <p:nvPr>
            <p:ph idx="1"/>
          </p:nvPr>
        </p:nvSpPr>
        <p:spPr>
          <a:xfrm>
            <a:off x="1066800" y="2103120"/>
            <a:ext cx="5029200" cy="3931920"/>
          </a:xfrm>
        </p:spPr>
        <p:txBody>
          <a:bodyPr/>
          <a:lstStyle/>
          <a:p>
            <a:pPr marL="0" indent="0">
              <a:buNone/>
            </a:pPr>
            <a:r>
              <a:rPr lang="ru-RU" b="1" dirty="0" err="1"/>
              <a:t>SibSp</a:t>
            </a:r>
            <a:r>
              <a:rPr lang="ru-RU" b="1" dirty="0"/>
              <a:t> — это число братьев, сестер или супругов на борту у человека. Максимум 8 братьев и сестер путешествовали вместе с одним из путешественников. Более 90% людей путешествовали в одиночку или с одним из своих братьев и сестер или супругом(ой). Шансы на выживание резко падали, если кто-то ездил с более чем двумя родными.</a:t>
            </a:r>
          </a:p>
        </p:txBody>
      </p:sp>
      <p:pic>
        <p:nvPicPr>
          <p:cNvPr id="4" name="Рисунок 3">
            <a:extLst>
              <a:ext uri="{FF2B5EF4-FFF2-40B4-BE49-F238E27FC236}">
                <a16:creationId xmlns:a16="http://schemas.microsoft.com/office/drawing/2014/main" id="{7BAE1F0E-524F-45D9-9BA5-903BD7314A96}"/>
              </a:ext>
            </a:extLst>
          </p:cNvPr>
          <p:cNvPicPr/>
          <p:nvPr/>
        </p:nvPicPr>
        <p:blipFill>
          <a:blip r:embed="rId2"/>
          <a:stretch>
            <a:fillRect/>
          </a:stretch>
        </p:blipFill>
        <p:spPr>
          <a:xfrm>
            <a:off x="6096000" y="2183339"/>
            <a:ext cx="5029200" cy="2854091"/>
          </a:xfrm>
          <a:prstGeom prst="rect">
            <a:avLst/>
          </a:prstGeom>
        </p:spPr>
      </p:pic>
    </p:spTree>
    <p:extLst>
      <p:ext uri="{BB962C8B-B14F-4D97-AF65-F5344CB8AC3E}">
        <p14:creationId xmlns:p14="http://schemas.microsoft.com/office/powerpoint/2010/main" val="519541036"/>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24559D-C4E3-4452-94FE-12A1AD5704BB}"/>
              </a:ext>
            </a:extLst>
          </p:cNvPr>
          <p:cNvSpPr>
            <a:spLocks noGrp="1"/>
          </p:cNvSpPr>
          <p:nvPr>
            <p:ph type="title"/>
          </p:nvPr>
        </p:nvSpPr>
        <p:spPr/>
        <p:txBody>
          <a:bodyPr/>
          <a:lstStyle/>
          <a:p>
            <a:r>
              <a:rPr lang="az-Latn-AZ" b="1" dirty="0"/>
              <a:t>Fare</a:t>
            </a:r>
            <a:endParaRPr lang="ru-RU" b="1" dirty="0"/>
          </a:p>
        </p:txBody>
      </p:sp>
      <p:sp>
        <p:nvSpPr>
          <p:cNvPr id="3" name="Объект 2">
            <a:extLst>
              <a:ext uri="{FF2B5EF4-FFF2-40B4-BE49-F238E27FC236}">
                <a16:creationId xmlns:a16="http://schemas.microsoft.com/office/drawing/2014/main" id="{85A3BF1B-A901-412E-9E53-2412A724C17F}"/>
              </a:ext>
            </a:extLst>
          </p:cNvPr>
          <p:cNvSpPr>
            <a:spLocks noGrp="1"/>
          </p:cNvSpPr>
          <p:nvPr>
            <p:ph idx="1"/>
          </p:nvPr>
        </p:nvSpPr>
        <p:spPr>
          <a:xfrm>
            <a:off x="1066800" y="2103120"/>
            <a:ext cx="5029200" cy="3931920"/>
          </a:xfrm>
        </p:spPr>
        <p:txBody>
          <a:bodyPr/>
          <a:lstStyle/>
          <a:p>
            <a:pPr marL="0" indent="0">
              <a:buNone/>
            </a:pPr>
            <a:r>
              <a:rPr lang="ru-RU" b="1" dirty="0"/>
              <a:t>Очевидно, что существует сильная корреляция между стоимостью самого билета и выживанием. Чем больше заплатил пассажир корабля, тем выше его шансы выжить.</a:t>
            </a:r>
          </a:p>
          <a:p>
            <a:endParaRPr lang="ru-RU" dirty="0"/>
          </a:p>
        </p:txBody>
      </p:sp>
      <p:pic>
        <p:nvPicPr>
          <p:cNvPr id="4" name="Рисунок 3">
            <a:extLst>
              <a:ext uri="{FF2B5EF4-FFF2-40B4-BE49-F238E27FC236}">
                <a16:creationId xmlns:a16="http://schemas.microsoft.com/office/drawing/2014/main" id="{2E98763B-6682-4D07-9459-EFC1254CB55B}"/>
              </a:ext>
            </a:extLst>
          </p:cNvPr>
          <p:cNvPicPr/>
          <p:nvPr/>
        </p:nvPicPr>
        <p:blipFill>
          <a:blip r:embed="rId2"/>
          <a:stretch>
            <a:fillRect/>
          </a:stretch>
        </p:blipFill>
        <p:spPr>
          <a:xfrm>
            <a:off x="6096000" y="2103120"/>
            <a:ext cx="5028054" cy="2900201"/>
          </a:xfrm>
          <a:prstGeom prst="rect">
            <a:avLst/>
          </a:prstGeom>
        </p:spPr>
      </p:pic>
    </p:spTree>
    <p:extLst>
      <p:ext uri="{BB962C8B-B14F-4D97-AF65-F5344CB8AC3E}">
        <p14:creationId xmlns:p14="http://schemas.microsoft.com/office/powerpoint/2010/main" val="2067269252"/>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7379ABD-B2CB-4B6F-9240-FAAD4798A780}"/>
              </a:ext>
            </a:extLst>
          </p:cNvPr>
          <p:cNvSpPr>
            <a:spLocks noGrp="1"/>
          </p:cNvSpPr>
          <p:nvPr>
            <p:ph type="title"/>
          </p:nvPr>
        </p:nvSpPr>
        <p:spPr/>
        <p:txBody>
          <a:bodyPr/>
          <a:lstStyle/>
          <a:p>
            <a:r>
              <a:rPr lang="az-Latn-AZ" b="1" dirty="0"/>
              <a:t>Embarked</a:t>
            </a:r>
            <a:endParaRPr lang="ru-RU" b="1" dirty="0"/>
          </a:p>
        </p:txBody>
      </p:sp>
      <p:sp>
        <p:nvSpPr>
          <p:cNvPr id="3" name="Объект 2">
            <a:extLst>
              <a:ext uri="{FF2B5EF4-FFF2-40B4-BE49-F238E27FC236}">
                <a16:creationId xmlns:a16="http://schemas.microsoft.com/office/drawing/2014/main" id="{DE4F614F-647F-44FC-8CB7-B9E5A5338278}"/>
              </a:ext>
            </a:extLst>
          </p:cNvPr>
          <p:cNvSpPr>
            <a:spLocks noGrp="1"/>
          </p:cNvSpPr>
          <p:nvPr>
            <p:ph idx="1"/>
          </p:nvPr>
        </p:nvSpPr>
        <p:spPr>
          <a:xfrm>
            <a:off x="1066800" y="2103120"/>
            <a:ext cx="5029200" cy="3931920"/>
          </a:xfrm>
        </p:spPr>
        <p:txBody>
          <a:bodyPr/>
          <a:lstStyle/>
          <a:p>
            <a:pPr marL="0" indent="0">
              <a:buNone/>
            </a:pPr>
            <a:r>
              <a:rPr lang="ru-RU" b="1" dirty="0"/>
              <a:t>Этот столбец хранит информацию о порте посадки пассажира. Есть три возможных значения для </a:t>
            </a:r>
            <a:r>
              <a:rPr lang="ru-RU" b="1" dirty="0" err="1"/>
              <a:t>Embarked</a:t>
            </a:r>
            <a:r>
              <a:rPr lang="ru-RU" b="1" dirty="0"/>
              <a:t> -  Саутгемптон, </a:t>
            </a:r>
            <a:r>
              <a:rPr lang="ru-RU" b="1" dirty="0" err="1"/>
              <a:t>Шербург</a:t>
            </a:r>
            <a:r>
              <a:rPr lang="ru-RU" b="1" dirty="0"/>
              <a:t> и </a:t>
            </a:r>
            <a:r>
              <a:rPr lang="ru-RU" b="1" dirty="0" err="1"/>
              <a:t>Куинстаун</a:t>
            </a:r>
            <a:r>
              <a:rPr lang="ru-RU" b="1" dirty="0"/>
              <a:t>. Более 70% людей сели в Саутгемптон. Чуть менее 20% сели на борт из Шербура, а остальные — из </a:t>
            </a:r>
            <a:r>
              <a:rPr lang="ru-RU" b="1" dirty="0" err="1"/>
              <a:t>Квинстауна</a:t>
            </a:r>
            <a:r>
              <a:rPr lang="ru-RU" b="1" dirty="0"/>
              <a:t>. Люди, которые сели в порте </a:t>
            </a:r>
            <a:r>
              <a:rPr lang="ru-RU" b="1" dirty="0" err="1"/>
              <a:t>Шербург</a:t>
            </a:r>
            <a:r>
              <a:rPr lang="ru-RU" b="1" dirty="0"/>
              <a:t>, имели более высокие шансы на выживание, чем люди, которые сели в портах Саутгемптон или </a:t>
            </a:r>
            <a:r>
              <a:rPr lang="ru-RU" b="1" dirty="0" err="1"/>
              <a:t>Квинстаун</a:t>
            </a:r>
            <a:r>
              <a:rPr lang="ru-RU" b="1" dirty="0"/>
              <a:t>.</a:t>
            </a:r>
          </a:p>
        </p:txBody>
      </p:sp>
      <p:pic>
        <p:nvPicPr>
          <p:cNvPr id="4" name="Рисунок 3">
            <a:extLst>
              <a:ext uri="{FF2B5EF4-FFF2-40B4-BE49-F238E27FC236}">
                <a16:creationId xmlns:a16="http://schemas.microsoft.com/office/drawing/2014/main" id="{5E23C9AC-5E83-4470-81C3-11B31879A3D7}"/>
              </a:ext>
            </a:extLst>
          </p:cNvPr>
          <p:cNvPicPr/>
          <p:nvPr/>
        </p:nvPicPr>
        <p:blipFill>
          <a:blip r:embed="rId2"/>
          <a:stretch>
            <a:fillRect/>
          </a:stretch>
        </p:blipFill>
        <p:spPr>
          <a:xfrm>
            <a:off x="6097147" y="2189384"/>
            <a:ext cx="5028053" cy="3072729"/>
          </a:xfrm>
          <a:prstGeom prst="rect">
            <a:avLst/>
          </a:prstGeom>
        </p:spPr>
      </p:pic>
    </p:spTree>
    <p:extLst>
      <p:ext uri="{BB962C8B-B14F-4D97-AF65-F5344CB8AC3E}">
        <p14:creationId xmlns:p14="http://schemas.microsoft.com/office/powerpoint/2010/main" val="1563146074"/>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49DC3721-C345-4812-9516-5E0348E0271E}"/>
              </a:ext>
            </a:extLst>
          </p:cNvPr>
          <p:cNvSpPr>
            <a:spLocks noGrp="1"/>
          </p:cNvSpPr>
          <p:nvPr>
            <p:ph type="title"/>
          </p:nvPr>
        </p:nvSpPr>
        <p:spPr/>
        <p:txBody>
          <a:bodyPr/>
          <a:lstStyle/>
          <a:p>
            <a:r>
              <a:rPr lang="ru-RU" sz="6000" b="1" dirty="0"/>
              <a:t>Заполнение пропущенных данных</a:t>
            </a:r>
          </a:p>
        </p:txBody>
      </p:sp>
    </p:spTree>
    <p:extLst>
      <p:ext uri="{BB962C8B-B14F-4D97-AF65-F5344CB8AC3E}">
        <p14:creationId xmlns:p14="http://schemas.microsoft.com/office/powerpoint/2010/main" val="913963489"/>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91479D6-C3AB-4911-A7B6-AFA3BE4D1FD1}"/>
              </a:ext>
            </a:extLst>
          </p:cNvPr>
          <p:cNvSpPr>
            <a:spLocks noGrp="1"/>
          </p:cNvSpPr>
          <p:nvPr>
            <p:ph type="title"/>
          </p:nvPr>
        </p:nvSpPr>
        <p:spPr/>
        <p:txBody>
          <a:bodyPr/>
          <a:lstStyle/>
          <a:p>
            <a:r>
              <a:rPr lang="az-Latn-AZ" b="1" dirty="0"/>
              <a:t>Embarked</a:t>
            </a:r>
            <a:endParaRPr lang="ru-RU" b="1" dirty="0"/>
          </a:p>
        </p:txBody>
      </p:sp>
      <p:sp>
        <p:nvSpPr>
          <p:cNvPr id="3" name="Объект 2">
            <a:extLst>
              <a:ext uri="{FF2B5EF4-FFF2-40B4-BE49-F238E27FC236}">
                <a16:creationId xmlns:a16="http://schemas.microsoft.com/office/drawing/2014/main" id="{8B9874BC-4784-402F-9394-835962396C86}"/>
              </a:ext>
            </a:extLst>
          </p:cNvPr>
          <p:cNvSpPr>
            <a:spLocks noGrp="1"/>
          </p:cNvSpPr>
          <p:nvPr>
            <p:ph idx="1"/>
          </p:nvPr>
        </p:nvSpPr>
        <p:spPr>
          <a:xfrm>
            <a:off x="1066800" y="2103120"/>
            <a:ext cx="5029200" cy="3931920"/>
          </a:xfrm>
        </p:spPr>
        <p:txBody>
          <a:bodyPr>
            <a:normAutofit fontScale="92500" lnSpcReduction="10000"/>
          </a:bodyPr>
          <a:lstStyle/>
          <a:p>
            <a:pPr marL="0" indent="0">
              <a:buNone/>
            </a:pPr>
            <a:r>
              <a:rPr lang="ru-RU" b="1" dirty="0"/>
              <a:t>Поскольку у признака “</a:t>
            </a:r>
            <a:r>
              <a:rPr lang="en-US" b="1" dirty="0"/>
              <a:t>Embarked</a:t>
            </a:r>
            <a:r>
              <a:rPr lang="ru-RU" b="1" dirty="0"/>
              <a:t>” было пропущено только два значения, а также благодаря тому, что наибольшее количество пассажиров отправилось из Саутгемптона, вероятность посадки оставшихся пассажиров в Саутгемптоне выше. По данной причине, мы заполним недостающие значения </a:t>
            </a:r>
            <a:r>
              <a:rPr lang="ru-RU" b="1" dirty="0" err="1"/>
              <a:t>Саутгемтоном</a:t>
            </a:r>
            <a:r>
              <a:rPr lang="ru-RU" b="1" dirty="0"/>
              <a:t>. Однако мы не будем добавлять данные значения вручную, мы найдем моду признака “</a:t>
            </a:r>
            <a:r>
              <a:rPr lang="en-US" b="1" dirty="0"/>
              <a:t>Embarked</a:t>
            </a:r>
            <a:r>
              <a:rPr lang="ru-RU" b="1" dirty="0"/>
              <a:t>” и подставим в него два недостающих значения. Модой называется элемент выборки, встречающийся наибольшее количество раз. </a:t>
            </a:r>
          </a:p>
          <a:p>
            <a:pPr marL="0" indent="0">
              <a:buNone/>
            </a:pPr>
            <a:endParaRPr lang="ru-RU" b="1" dirty="0"/>
          </a:p>
        </p:txBody>
      </p:sp>
      <p:sp>
        <p:nvSpPr>
          <p:cNvPr id="4" name="Прямоугольник 3">
            <a:extLst>
              <a:ext uri="{FF2B5EF4-FFF2-40B4-BE49-F238E27FC236}">
                <a16:creationId xmlns:a16="http://schemas.microsoft.com/office/drawing/2014/main" id="{B4DDA441-0823-4C1D-9C2B-2C7B786F42EA}"/>
              </a:ext>
            </a:extLst>
          </p:cNvPr>
          <p:cNvSpPr/>
          <p:nvPr/>
        </p:nvSpPr>
        <p:spPr>
          <a:xfrm>
            <a:off x="6096000" y="2984647"/>
            <a:ext cx="5029200" cy="888705"/>
          </a:xfrm>
          <a:prstGeom prst="rect">
            <a:avLst/>
          </a:prstGeom>
        </p:spPr>
        <p:txBody>
          <a:bodyPr wrap="square">
            <a:spAutoFit/>
          </a:bodyPr>
          <a:lstStyle/>
          <a:p>
            <a:pPr algn="just">
              <a:lnSpc>
                <a:spcPct val="150000"/>
              </a:lnSpc>
              <a:spcAft>
                <a:spcPts val="800"/>
              </a:spcAft>
            </a:pPr>
            <a:r>
              <a:rPr lang="en-US" b="1" dirty="0" err="1">
                <a:latin typeface="Courier New" panose="02070309020205020404" pitchFamily="49" charset="0"/>
                <a:ea typeface="Calibri" panose="020F0502020204030204" pitchFamily="34" charset="0"/>
                <a:cs typeface="Times New Roman" panose="02020603050405020304" pitchFamily="18" charset="0"/>
              </a:rPr>
              <a:t>td.Embarked.fillna</a:t>
            </a:r>
            <a:r>
              <a:rPr lang="en-US" b="1" dirty="0">
                <a:latin typeface="Courier New" panose="02070309020205020404" pitchFamily="49" charset="0"/>
                <a:ea typeface="Calibri" panose="020F0502020204030204" pitchFamily="34" charset="0"/>
                <a:cs typeface="Times New Roman" panose="02020603050405020304" pitchFamily="18" charset="0"/>
              </a:rPr>
              <a:t>(</a:t>
            </a:r>
            <a:r>
              <a:rPr lang="en-US" b="1" dirty="0" err="1">
                <a:latin typeface="Courier New" panose="02070309020205020404" pitchFamily="49" charset="0"/>
                <a:ea typeface="Calibri" panose="020F0502020204030204" pitchFamily="34" charset="0"/>
                <a:cs typeface="Times New Roman" panose="02020603050405020304" pitchFamily="18" charset="0"/>
              </a:rPr>
              <a:t>td.Embarked.mode</a:t>
            </a:r>
            <a:r>
              <a:rPr lang="en-US" b="1" dirty="0">
                <a:latin typeface="Courier New" panose="02070309020205020404" pitchFamily="49" charset="0"/>
                <a:ea typeface="Calibri" panose="020F0502020204030204" pitchFamily="34" charset="0"/>
                <a:cs typeface="Times New Roman" panose="02020603050405020304" pitchFamily="18" charset="0"/>
              </a:rPr>
              <a:t>()[0], </a:t>
            </a:r>
            <a:r>
              <a:rPr lang="en-US" b="1" dirty="0" err="1">
                <a:latin typeface="Courier New" panose="02070309020205020404" pitchFamily="49" charset="0"/>
                <a:ea typeface="Calibri" panose="020F0502020204030204" pitchFamily="34" charset="0"/>
                <a:cs typeface="Times New Roman" panose="02020603050405020304" pitchFamily="18" charset="0"/>
              </a:rPr>
              <a:t>inplace</a:t>
            </a:r>
            <a:r>
              <a:rPr lang="en-US" b="1" dirty="0">
                <a:latin typeface="Courier New" panose="02070309020205020404" pitchFamily="49" charset="0"/>
                <a:ea typeface="Calibri" panose="020F0502020204030204" pitchFamily="34" charset="0"/>
                <a:cs typeface="Times New Roman" panose="02020603050405020304" pitchFamily="18" charset="0"/>
              </a:rPr>
              <a:t> = True)</a:t>
            </a:r>
            <a:endParaRPr lang="ru-RU" sz="2400" b="1"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96653476"/>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CC9B3BB-FB19-4EC0-B5D8-77DC4E9B08AA}"/>
              </a:ext>
            </a:extLst>
          </p:cNvPr>
          <p:cNvSpPr>
            <a:spLocks noGrp="1"/>
          </p:cNvSpPr>
          <p:nvPr>
            <p:ph type="title"/>
          </p:nvPr>
        </p:nvSpPr>
        <p:spPr/>
        <p:txBody>
          <a:bodyPr/>
          <a:lstStyle/>
          <a:p>
            <a:r>
              <a:rPr lang="az-Latn-AZ" dirty="0"/>
              <a:t>Age</a:t>
            </a:r>
            <a:endParaRPr lang="ru-RU" dirty="0"/>
          </a:p>
        </p:txBody>
      </p:sp>
      <p:sp>
        <p:nvSpPr>
          <p:cNvPr id="3" name="Объект 2">
            <a:extLst>
              <a:ext uri="{FF2B5EF4-FFF2-40B4-BE49-F238E27FC236}">
                <a16:creationId xmlns:a16="http://schemas.microsoft.com/office/drawing/2014/main" id="{6DC1CC90-2480-475C-809C-731F9668B972}"/>
              </a:ext>
            </a:extLst>
          </p:cNvPr>
          <p:cNvSpPr>
            <a:spLocks noGrp="1"/>
          </p:cNvSpPr>
          <p:nvPr>
            <p:ph idx="1"/>
          </p:nvPr>
        </p:nvSpPr>
        <p:spPr>
          <a:xfrm>
            <a:off x="1066800" y="2103120"/>
            <a:ext cx="5029200" cy="3931920"/>
          </a:xfrm>
        </p:spPr>
        <p:txBody>
          <a:bodyPr>
            <a:normAutofit lnSpcReduction="10000"/>
          </a:bodyPr>
          <a:lstStyle/>
          <a:p>
            <a:pPr marL="0" indent="0">
              <a:buNone/>
            </a:pPr>
            <a:r>
              <a:rPr lang="ru-RU" b="1" dirty="0"/>
              <a:t>Возраст имеет 263 пропущенных значения. Чтобы справиться с недостающими значениями, мы сначала попытаемся классифицировать людей по их обращениям. В наборе данных всего 17 различных обращений. МЫ группируем отношения и пол, затем находим медиану всех категорий и заменяем недостающие значения медианой этой категории.</a:t>
            </a:r>
          </a:p>
          <a:p>
            <a:pPr marL="0" indent="0">
              <a:buNone/>
            </a:pPr>
            <a:r>
              <a:rPr lang="ru-RU" b="1" dirty="0"/>
              <a:t>В дальнейшем я сгруппировал эти названия по </a:t>
            </a:r>
            <a:r>
              <a:rPr lang="az-Latn-AZ" b="1" dirty="0"/>
              <a:t>Sex </a:t>
            </a:r>
            <a:r>
              <a:rPr lang="ru-RU" b="1" dirty="0"/>
              <a:t>и </a:t>
            </a:r>
            <a:r>
              <a:rPr lang="az-Latn-AZ" b="1" dirty="0"/>
              <a:t>PClass</a:t>
            </a:r>
            <a:endParaRPr lang="ru-RU" b="1" dirty="0"/>
          </a:p>
          <a:p>
            <a:pPr marL="0" indent="0">
              <a:buNone/>
            </a:pPr>
            <a:r>
              <a:rPr lang="ru-RU" b="1" dirty="0"/>
              <a:t>Медиана группы затем была подставлена в пропущенные строки</a:t>
            </a:r>
          </a:p>
          <a:p>
            <a:pPr marL="0" indent="0">
              <a:buNone/>
            </a:pPr>
            <a:endParaRPr lang="ru-RU" b="1" dirty="0"/>
          </a:p>
        </p:txBody>
      </p:sp>
      <p:pic>
        <p:nvPicPr>
          <p:cNvPr id="4" name="Рисунок 3">
            <a:extLst>
              <a:ext uri="{FF2B5EF4-FFF2-40B4-BE49-F238E27FC236}">
                <a16:creationId xmlns:a16="http://schemas.microsoft.com/office/drawing/2014/main" id="{DADA2D79-D216-4AFD-A7B4-3C5170003074}"/>
              </a:ext>
            </a:extLst>
          </p:cNvPr>
          <p:cNvPicPr/>
          <p:nvPr/>
        </p:nvPicPr>
        <p:blipFill>
          <a:blip r:embed="rId2"/>
          <a:stretch>
            <a:fillRect/>
          </a:stretch>
        </p:blipFill>
        <p:spPr>
          <a:xfrm>
            <a:off x="6096000" y="2715685"/>
            <a:ext cx="5029200" cy="2706790"/>
          </a:xfrm>
          <a:prstGeom prst="rect">
            <a:avLst/>
          </a:prstGeom>
        </p:spPr>
      </p:pic>
    </p:spTree>
    <p:extLst>
      <p:ext uri="{BB962C8B-B14F-4D97-AF65-F5344CB8AC3E}">
        <p14:creationId xmlns:p14="http://schemas.microsoft.com/office/powerpoint/2010/main" val="2683317496"/>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49DC3721-C345-4812-9516-5E0348E0271E}"/>
              </a:ext>
            </a:extLst>
          </p:cNvPr>
          <p:cNvSpPr>
            <a:spLocks noGrp="1"/>
          </p:cNvSpPr>
          <p:nvPr>
            <p:ph type="title"/>
          </p:nvPr>
        </p:nvSpPr>
        <p:spPr/>
        <p:txBody>
          <a:bodyPr/>
          <a:lstStyle/>
          <a:p>
            <a:r>
              <a:rPr lang="ru-RU" sz="6000" b="1" dirty="0"/>
              <a:t>Прогнозирование</a:t>
            </a:r>
            <a:br>
              <a:rPr lang="ru-RU" sz="6000" b="1" dirty="0"/>
            </a:br>
            <a:r>
              <a:rPr lang="ru-RU" sz="6000" b="1" dirty="0"/>
              <a:t>Данных</a:t>
            </a:r>
          </a:p>
        </p:txBody>
      </p:sp>
    </p:spTree>
    <p:extLst>
      <p:ext uri="{BB962C8B-B14F-4D97-AF65-F5344CB8AC3E}">
        <p14:creationId xmlns:p14="http://schemas.microsoft.com/office/powerpoint/2010/main" val="2755406178"/>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5F3A73F-DF50-4A7F-BC9B-A88E5FB972B2}"/>
              </a:ext>
            </a:extLst>
          </p:cNvPr>
          <p:cNvSpPr>
            <a:spLocks noGrp="1"/>
          </p:cNvSpPr>
          <p:nvPr>
            <p:ph type="title"/>
          </p:nvPr>
        </p:nvSpPr>
        <p:spPr/>
        <p:txBody>
          <a:bodyPr>
            <a:normAutofit fontScale="90000"/>
          </a:bodyPr>
          <a:lstStyle/>
          <a:p>
            <a:r>
              <a:rPr lang="ru-RU" b="1" dirty="0"/>
              <a:t>Гауссовский Наивный Байесовский классификатор</a:t>
            </a:r>
          </a:p>
        </p:txBody>
      </p:sp>
      <p:sp>
        <p:nvSpPr>
          <p:cNvPr id="3" name="Объект 2">
            <a:extLst>
              <a:ext uri="{FF2B5EF4-FFF2-40B4-BE49-F238E27FC236}">
                <a16:creationId xmlns:a16="http://schemas.microsoft.com/office/drawing/2014/main" id="{D854CC71-6189-4241-87B0-1C0D9E94251E}"/>
              </a:ext>
            </a:extLst>
          </p:cNvPr>
          <p:cNvSpPr>
            <a:spLocks noGrp="1"/>
          </p:cNvSpPr>
          <p:nvPr>
            <p:ph idx="1"/>
          </p:nvPr>
        </p:nvSpPr>
        <p:spPr>
          <a:xfrm>
            <a:off x="1066800" y="2103120"/>
            <a:ext cx="5029200" cy="4375318"/>
          </a:xfrm>
        </p:spPr>
        <p:txBody>
          <a:bodyPr>
            <a:normAutofit fontScale="85000" lnSpcReduction="20000"/>
          </a:bodyPr>
          <a:lstStyle/>
          <a:p>
            <a:pPr marL="0" indent="0">
              <a:buNone/>
            </a:pPr>
            <a:r>
              <a:rPr lang="ru-RU" b="1" dirty="0"/>
              <a:t>Гауссовский наивный байесовский классификатор - это вероятностный алгоритм машинного обучения, основанный на применении байесовской теории вероятностей. Наивный байесовский классификатор базируется на предположении о независимости признаков внутри каждого класса, то есть считает, что значение каждого признака влияет на классификацию независимо от значений остальных признаков. Это является упрощением, но позволяет эффективно работать с большими наборами данных. В гауссовском наивном байесовском классификаторе предполагается, что признаки каждого класса имеют нормальное распределение. Для обучения модели оцениваются параметры распределения, такие как среднее и дисперсия, для каждого признака в каждом классе. Затем, при поступлении нового примера, вычисляются вероятности принадлежности этого примера к каждому классу на основе байесовской формулы и параметров распределения. </a:t>
            </a:r>
          </a:p>
          <a:p>
            <a:pPr marL="0" indent="0">
              <a:buNone/>
            </a:pPr>
            <a:endParaRPr lang="ru-RU" dirty="0"/>
          </a:p>
        </p:txBody>
      </p:sp>
      <p:pic>
        <p:nvPicPr>
          <p:cNvPr id="5" name="Рисунок 4">
            <a:extLst>
              <a:ext uri="{FF2B5EF4-FFF2-40B4-BE49-F238E27FC236}">
                <a16:creationId xmlns:a16="http://schemas.microsoft.com/office/drawing/2014/main" id="{E0F5C34A-6F1D-45D3-A697-99056EC2EC24}"/>
              </a:ext>
            </a:extLst>
          </p:cNvPr>
          <p:cNvPicPr>
            <a:picLocks noChangeAspect="1"/>
          </p:cNvPicPr>
          <p:nvPr/>
        </p:nvPicPr>
        <p:blipFill>
          <a:blip r:embed="rId2"/>
          <a:stretch>
            <a:fillRect/>
          </a:stretch>
        </p:blipFill>
        <p:spPr>
          <a:xfrm>
            <a:off x="6096000" y="2442964"/>
            <a:ext cx="5034991" cy="3252231"/>
          </a:xfrm>
          <a:prstGeom prst="rect">
            <a:avLst/>
          </a:prstGeom>
        </p:spPr>
      </p:pic>
    </p:spTree>
    <p:extLst>
      <p:ext uri="{BB962C8B-B14F-4D97-AF65-F5344CB8AC3E}">
        <p14:creationId xmlns:p14="http://schemas.microsoft.com/office/powerpoint/2010/main" val="2587599434"/>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20104E4-93B0-4BDF-9228-D2272F1B01D9}"/>
              </a:ext>
            </a:extLst>
          </p:cNvPr>
          <p:cNvSpPr>
            <a:spLocks noGrp="1"/>
          </p:cNvSpPr>
          <p:nvPr>
            <p:ph type="title"/>
          </p:nvPr>
        </p:nvSpPr>
        <p:spPr/>
        <p:txBody>
          <a:bodyPr/>
          <a:lstStyle/>
          <a:p>
            <a:r>
              <a:rPr lang="ru-RU" b="1" dirty="0"/>
              <a:t>Алгоритм Случайного Леса</a:t>
            </a:r>
          </a:p>
        </p:txBody>
      </p:sp>
      <p:sp>
        <p:nvSpPr>
          <p:cNvPr id="3" name="Объект 2">
            <a:extLst>
              <a:ext uri="{FF2B5EF4-FFF2-40B4-BE49-F238E27FC236}">
                <a16:creationId xmlns:a16="http://schemas.microsoft.com/office/drawing/2014/main" id="{F6798783-45E7-4FA1-9887-14976DE62153}"/>
              </a:ext>
            </a:extLst>
          </p:cNvPr>
          <p:cNvSpPr>
            <a:spLocks noGrp="1"/>
          </p:cNvSpPr>
          <p:nvPr>
            <p:ph idx="1"/>
          </p:nvPr>
        </p:nvSpPr>
        <p:spPr>
          <a:xfrm>
            <a:off x="1066800" y="2103119"/>
            <a:ext cx="5029200" cy="4358065"/>
          </a:xfrm>
        </p:spPr>
        <p:txBody>
          <a:bodyPr>
            <a:normAutofit lnSpcReduction="10000"/>
          </a:bodyPr>
          <a:lstStyle/>
          <a:p>
            <a:pPr marL="0" indent="0">
              <a:buNone/>
            </a:pPr>
            <a:r>
              <a:rPr lang="ru-RU" b="1" dirty="0"/>
              <a:t>Случайный лес - это алгоритм машинного обучения, который применяется для задач классификации, регрессии и других задач, связанных с анализом данных. Он основан на комбинировании множества деревьев решений. Основная идея случайного леса заключается в создании ансамбля из набора решающих деревьев, где каждое дерево обучается независимо на </a:t>
            </a:r>
            <a:r>
              <a:rPr lang="ru-RU" b="1" dirty="0" err="1"/>
              <a:t>подвыборках</a:t>
            </a:r>
            <a:r>
              <a:rPr lang="ru-RU" b="1" dirty="0"/>
              <a:t> данных с замещением, а также на случайных подмножествах признаков. Это позволяет случайному лесу учитывать различные аспекты и шум в данных, а также снижает вероятность переобучения модели.</a:t>
            </a:r>
          </a:p>
        </p:txBody>
      </p:sp>
      <p:pic>
        <p:nvPicPr>
          <p:cNvPr id="4" name="Рисунок 3">
            <a:extLst>
              <a:ext uri="{FF2B5EF4-FFF2-40B4-BE49-F238E27FC236}">
                <a16:creationId xmlns:a16="http://schemas.microsoft.com/office/drawing/2014/main" id="{6BFAD0B3-A4A5-4BCE-8AEF-80AA837CE2D0}"/>
              </a:ext>
            </a:extLst>
          </p:cNvPr>
          <p:cNvPicPr/>
          <p:nvPr/>
        </p:nvPicPr>
        <p:blipFill>
          <a:blip r:embed="rId2"/>
          <a:stretch>
            <a:fillRect/>
          </a:stretch>
        </p:blipFill>
        <p:spPr>
          <a:xfrm>
            <a:off x="6096000" y="2418126"/>
            <a:ext cx="5029200" cy="3301908"/>
          </a:xfrm>
          <a:prstGeom prst="rect">
            <a:avLst/>
          </a:prstGeom>
        </p:spPr>
      </p:pic>
    </p:spTree>
    <p:extLst>
      <p:ext uri="{BB962C8B-B14F-4D97-AF65-F5344CB8AC3E}">
        <p14:creationId xmlns:p14="http://schemas.microsoft.com/office/powerpoint/2010/main" val="3019606822"/>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49DC3721-C345-4812-9516-5E0348E0271E}"/>
              </a:ext>
            </a:extLst>
          </p:cNvPr>
          <p:cNvSpPr>
            <a:spLocks noGrp="1"/>
          </p:cNvSpPr>
          <p:nvPr>
            <p:ph type="title"/>
          </p:nvPr>
        </p:nvSpPr>
        <p:spPr/>
        <p:txBody>
          <a:bodyPr/>
          <a:lstStyle/>
          <a:p>
            <a:r>
              <a:rPr lang="ru-RU" sz="6000" b="1" dirty="0"/>
              <a:t>Спасибо за внимание!</a:t>
            </a:r>
          </a:p>
        </p:txBody>
      </p:sp>
    </p:spTree>
    <p:extLst>
      <p:ext uri="{BB962C8B-B14F-4D97-AF65-F5344CB8AC3E}">
        <p14:creationId xmlns:p14="http://schemas.microsoft.com/office/powerpoint/2010/main" val="1762205442"/>
      </p:ext>
    </p:extLst>
  </p:cSld>
  <p:clrMapOvr>
    <a:masterClrMapping/>
  </p:clrMapOvr>
  <p:transition spd="slow">
    <p:push dir="u"/>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Савон">
  <a:themeElements>
    <a:clrScheme name="Красный">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Савон">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Савон">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6728D11B-929E-4324-91B0-4A4DA4CAC3DD}"/>
    </a:ext>
  </a:extLst>
</a:theme>
</file>

<file path=docProps/app.xml><?xml version="1.0" encoding="utf-8"?>
<Properties xmlns="http://schemas.openxmlformats.org/officeDocument/2006/extended-properties" xmlns:vt="http://schemas.openxmlformats.org/officeDocument/2006/docPropsVTypes">
  <Template>Савон</Template>
  <TotalTime>235</TotalTime>
  <Words>907</Words>
  <Application>Microsoft Office PowerPoint</Application>
  <PresentationFormat>Широкоэкранный</PresentationFormat>
  <Paragraphs>42</Paragraphs>
  <Slides>17</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17</vt:i4>
      </vt:variant>
    </vt:vector>
  </HeadingPairs>
  <TitlesOfParts>
    <vt:vector size="22" baseType="lpstr">
      <vt:lpstr>Arial</vt:lpstr>
      <vt:lpstr>Calibri</vt:lpstr>
      <vt:lpstr>Century Gothic</vt:lpstr>
      <vt:lpstr>Courier New</vt:lpstr>
      <vt:lpstr>Савон</vt:lpstr>
      <vt:lpstr>Отчет о производственной практики</vt:lpstr>
      <vt:lpstr>Компания</vt:lpstr>
      <vt:lpstr>Введение</vt:lpstr>
      <vt:lpstr>Загрузка данных и пропущенные значения</vt:lpstr>
      <vt:lpstr>Признаки</vt:lpstr>
      <vt:lpstr>Pclass</vt:lpstr>
      <vt:lpstr>Age</vt:lpstr>
      <vt:lpstr>SibSp</vt:lpstr>
      <vt:lpstr>Fare</vt:lpstr>
      <vt:lpstr>Embarked</vt:lpstr>
      <vt:lpstr>Заполнение пропущенных данных</vt:lpstr>
      <vt:lpstr>Embarked</vt:lpstr>
      <vt:lpstr>Age</vt:lpstr>
      <vt:lpstr>Прогнозирование Данных</vt:lpstr>
      <vt:lpstr>Гауссовский Наивный Байесовский классификатор</vt:lpstr>
      <vt:lpstr>Алгоритм Случайного Леса</vt:lpstr>
      <vt:lpstr>Спасибо за внимание!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Отчет о производственной практики</dc:title>
  <dc:creator>GeForce</dc:creator>
  <cp:lastModifiedBy>GeForce</cp:lastModifiedBy>
  <cp:revision>11</cp:revision>
  <dcterms:created xsi:type="dcterms:W3CDTF">2023-05-20T13:12:51Z</dcterms:created>
  <dcterms:modified xsi:type="dcterms:W3CDTF">2023-05-28T22:08:01Z</dcterms:modified>
</cp:coreProperties>
</file>