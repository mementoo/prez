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1"/>
  </p:sldMasterIdLst>
  <p:sldIdLst>
    <p:sldId id="256" r:id="rId2"/>
    <p:sldId id="266" r:id="rId3"/>
    <p:sldId id="277" r:id="rId4"/>
    <p:sldId id="257" r:id="rId5"/>
    <p:sldId id="258" r:id="rId6"/>
    <p:sldId id="275" r:id="rId7"/>
    <p:sldId id="259" r:id="rId8"/>
    <p:sldId id="276" r:id="rId9"/>
    <p:sldId id="260" r:id="rId10"/>
    <p:sldId id="261" r:id="rId11"/>
    <p:sldId id="262" r:id="rId12"/>
    <p:sldId id="263" r:id="rId13"/>
    <p:sldId id="271" r:id="rId14"/>
    <p:sldId id="267" r:id="rId15"/>
    <p:sldId id="268" r:id="rId16"/>
    <p:sldId id="273" r:id="rId17"/>
    <p:sldId id="264" r:id="rId18"/>
    <p:sldId id="265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6FCB0ADD-1737-4E6F-B14D-7EAC8ED80F19}" type="datetimeFigureOut">
              <a:rPr lang="ru-RU" smtClean="0"/>
              <a:t>05.06.2023</a:t>
            </a:fld>
            <a:endParaRPr lang="ru-R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89EBB-B192-455D-8AAB-E585A206F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17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CB0ADD-1737-4E6F-B14D-7EAC8ED80F19}" type="datetimeFigureOut">
              <a:rPr lang="ru-RU" smtClean="0"/>
              <a:t>05.06.2023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89EBB-B192-455D-8AAB-E585A206F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25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FCB0ADD-1737-4E6F-B14D-7EAC8ED80F19}" type="datetimeFigureOut">
              <a:rPr lang="ru-RU" smtClean="0"/>
              <a:t>05.06.2023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89EBB-B192-455D-8AAB-E585A206F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48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CB0ADD-1737-4E6F-B14D-7EAC8ED80F19}" type="datetimeFigureOut">
              <a:rPr lang="ru-RU" smtClean="0"/>
              <a:t>05.06.2023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89EBB-B192-455D-8AAB-E585A206F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132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CB0ADD-1737-4E6F-B14D-7EAC8ED80F19}" type="datetimeFigureOut">
              <a:rPr lang="ru-RU" smtClean="0"/>
              <a:t>05.06.2023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89EBB-B192-455D-8AAB-E585A206F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02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CB0ADD-1737-4E6F-B14D-7EAC8ED80F19}" type="datetimeFigureOut">
              <a:rPr lang="ru-RU" smtClean="0"/>
              <a:t>05.06.2023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89EBB-B192-455D-8AAB-E585A206F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374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CB0ADD-1737-4E6F-B14D-7EAC8ED80F19}" type="datetimeFigureOut">
              <a:rPr lang="ru-RU" smtClean="0"/>
              <a:t>05.06.2023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89EBB-B192-455D-8AAB-E585A206F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817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CB0ADD-1737-4E6F-B14D-7EAC8ED80F19}" type="datetimeFigureOut">
              <a:rPr lang="ru-RU" smtClean="0"/>
              <a:t>05.06.2023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E089EBB-B192-455D-8AAB-E585A206F49C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9084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FCB0ADD-1737-4E6F-B14D-7EAC8ED80F19}" type="datetimeFigureOut">
              <a:rPr lang="ru-RU" smtClean="0"/>
              <a:t>05.06.2023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89EBB-B192-455D-8AAB-E585A206F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429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CB0ADD-1737-4E6F-B14D-7EAC8ED80F19}" type="datetimeFigureOut">
              <a:rPr lang="ru-RU" smtClean="0"/>
              <a:t>05.06.2023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89EBB-B192-455D-8AAB-E585A206F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28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CB0ADD-1737-4E6F-B14D-7EAC8ED80F19}" type="datetimeFigureOut">
              <a:rPr lang="ru-RU" smtClean="0"/>
              <a:t>05.06.2023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089EBB-B192-455D-8AAB-E585A206F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497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6FCB0ADD-1737-4E6F-B14D-7EAC8ED80F19}" type="datetimeFigureOut">
              <a:rPr lang="ru-RU" smtClean="0"/>
              <a:t>05.06.2023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5E089EBB-B192-455D-8AAB-E585A206F4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5312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8EB9C-896E-4CED-9AD0-6DF2B57183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5400" b="1" dirty="0"/>
              <a:t>Отчет о производственной практики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3FF354-20A1-4999-BB0A-BB7DE313E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752580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ru-RU" b="1" dirty="0">
                <a:solidFill>
                  <a:schemeClr val="tx1"/>
                </a:solidFill>
              </a:rPr>
              <a:t>Студент: </a:t>
            </a:r>
            <a:r>
              <a:rPr lang="ru-RU" b="1" dirty="0" err="1">
                <a:solidFill>
                  <a:schemeClr val="tx1"/>
                </a:solidFill>
              </a:rPr>
              <a:t>Атаев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Майис</a:t>
            </a:r>
            <a:endParaRPr lang="ru-RU" b="1" dirty="0">
              <a:solidFill>
                <a:schemeClr val="tx1"/>
              </a:solidFill>
            </a:endParaRPr>
          </a:p>
          <a:p>
            <a:pPr algn="r"/>
            <a:r>
              <a:rPr lang="ru-RU" b="1" dirty="0">
                <a:solidFill>
                  <a:schemeClr val="tx1"/>
                </a:solidFill>
              </a:rPr>
              <a:t>Факультет: Информационные технологии и управление</a:t>
            </a:r>
          </a:p>
          <a:p>
            <a:pPr algn="r"/>
            <a:r>
              <a:rPr lang="ru-RU" b="1" dirty="0">
                <a:solidFill>
                  <a:schemeClr val="tx1"/>
                </a:solidFill>
              </a:rPr>
              <a:t>Группа: 684.19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F92934D-6873-49EB-9664-7B49EDBA327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054" y="1520755"/>
            <a:ext cx="1141015" cy="11410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637134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B7287-A60A-497B-9B0E-7386ACEE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Компания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D863F2-788F-4DCD-9479-5254B5A78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01328"/>
            <a:ext cx="5029200" cy="401991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Компания </a:t>
            </a:r>
            <a:r>
              <a:rPr lang="ru-RU" b="1" dirty="0" err="1"/>
              <a:t>Royal</a:t>
            </a:r>
            <a:r>
              <a:rPr lang="ru-RU" b="1" dirty="0"/>
              <a:t> </a:t>
            </a:r>
            <a:r>
              <a:rPr lang="ru-RU" b="1" dirty="0" err="1"/>
              <a:t>Dutch</a:t>
            </a:r>
            <a:r>
              <a:rPr lang="ru-RU" b="1" dirty="0"/>
              <a:t> LV </a:t>
            </a:r>
            <a:r>
              <a:rPr lang="ru-RU" b="1" dirty="0" err="1"/>
              <a:t>Logistics</a:t>
            </a:r>
            <a:r>
              <a:rPr lang="ru-RU" b="1" dirty="0"/>
              <a:t> была основана в 1921 году в Нидерландах под названием J. </a:t>
            </a:r>
            <a:r>
              <a:rPr lang="ru-RU" b="1" dirty="0" err="1"/>
              <a:t>Lensveld</a:t>
            </a:r>
            <a:r>
              <a:rPr lang="ru-RU" b="1" dirty="0"/>
              <a:t> &amp; </a:t>
            </a:r>
            <a:r>
              <a:rPr lang="ru-RU" b="1" dirty="0" err="1"/>
              <a:t>Zonen</a:t>
            </a:r>
            <a:r>
              <a:rPr lang="ru-RU" b="1" dirty="0"/>
              <a:t> B.V. Главный офис до сих пор находится в городе </a:t>
            </a:r>
            <a:r>
              <a:rPr lang="ru-RU" b="1" dirty="0" err="1"/>
              <a:t>Влаардинген</a:t>
            </a:r>
            <a:r>
              <a:rPr lang="ru-RU" b="1" dirty="0"/>
              <a:t>, </a:t>
            </a:r>
            <a:r>
              <a:rPr lang="ru-RU" b="1" dirty="0" err="1"/>
              <a:t>Нидерланды.В</a:t>
            </a:r>
            <a:r>
              <a:rPr lang="ru-RU" b="1" dirty="0"/>
              <a:t> 1977 году было открыто новое отделение по производству прицепов для паромов под названием </a:t>
            </a:r>
            <a:r>
              <a:rPr lang="ru-RU" b="1" dirty="0" err="1"/>
              <a:t>Elvex</a:t>
            </a:r>
            <a:r>
              <a:rPr lang="ru-RU" b="1" dirty="0"/>
              <a:t>. Вскоре после этого был открыт первый офис в Великобритании в городе </a:t>
            </a:r>
            <a:r>
              <a:rPr lang="ru-RU" b="1" dirty="0" err="1"/>
              <a:t>Ширнес</a:t>
            </a:r>
            <a:r>
              <a:rPr lang="ru-RU" b="1" dirty="0"/>
              <a:t>. Компания LV </a:t>
            </a:r>
            <a:r>
              <a:rPr lang="ru-RU" b="1" dirty="0" err="1"/>
              <a:t>Logistics</a:t>
            </a:r>
            <a:r>
              <a:rPr lang="ru-RU" b="1" dirty="0"/>
              <a:t> </a:t>
            </a:r>
            <a:r>
              <a:rPr lang="ru-RU" b="1" dirty="0" err="1"/>
              <a:t>Ltd</a:t>
            </a:r>
            <a:r>
              <a:rPr lang="ru-RU" b="1" dirty="0"/>
              <a:t> была официально создана в 1986 году для выполнения крупных контрактов по экспедированию нефтяных и нефтехимических грузов в Северном море. Сейчас 11 офисов компании стратегически расположены вдоль восточного побережья Шотландии и </a:t>
            </a:r>
            <a:r>
              <a:rPr lang="ru-RU" b="1" dirty="0" err="1"/>
              <a:t>Англии.В</a:t>
            </a:r>
            <a:r>
              <a:rPr lang="ru-RU" b="1" dirty="0"/>
              <a:t> последние годы мы открыли офисы, например, в Сингапуре, США и Саудовской Аравии. Эта растущая сеть собственных офисов и специализированных агентов предлагает вам полный спектр логистических услуг. Вместе с нашими объектами и международными командами специалистов мы готовы предложить вам индивидуальное обслуживание, соответствующее самым высоким отраслевым стандартам.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CAAD7D8-4154-4195-AEC7-B153E7DF7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14195"/>
            <a:ext cx="5029200" cy="1923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D68891E-FA36-4A40-BBC2-6219BC245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938177"/>
            <a:ext cx="5029200" cy="1923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Azerbaijan - Royal Dutch LV Logistics">
            <a:extLst>
              <a:ext uri="{FF2B5EF4-FFF2-40B4-BE49-F238E27FC236}">
                <a16:creationId xmlns:a16="http://schemas.microsoft.com/office/drawing/2014/main" id="{D6059AD4-A6B1-4437-BC86-5A24F54B9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437" y="685961"/>
            <a:ext cx="2150763" cy="93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689183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B7287-A60A-497B-9B0E-7386ACEE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Библиотеки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5A29667-A078-487D-90BC-CB1564F2A314}"/>
              </a:ext>
            </a:extLst>
          </p:cNvPr>
          <p:cNvSpPr/>
          <p:nvPr/>
        </p:nvSpPr>
        <p:spPr>
          <a:xfrm>
            <a:off x="1066800" y="2266156"/>
            <a:ext cx="5029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Pandas</a:t>
            </a:r>
          </a:p>
          <a:p>
            <a:r>
              <a:rPr lang="en-US" sz="3600" b="1" dirty="0"/>
              <a:t>NumPy</a:t>
            </a:r>
          </a:p>
          <a:p>
            <a:r>
              <a:rPr lang="en-US" sz="3600" b="1" dirty="0"/>
              <a:t>Seaborn</a:t>
            </a:r>
            <a:br>
              <a:rPr lang="en-US" sz="3600" b="1" dirty="0"/>
            </a:br>
            <a:r>
              <a:rPr lang="en-US" sz="3600" b="1" dirty="0"/>
              <a:t>Matplotlib</a:t>
            </a:r>
          </a:p>
          <a:p>
            <a:r>
              <a:rPr lang="en-US" sz="3600" b="1" dirty="0" err="1"/>
              <a:t>Scikit</a:t>
            </a:r>
            <a:r>
              <a:rPr lang="en-US" sz="3600" b="1" dirty="0"/>
              <a:t>-learn</a:t>
            </a:r>
          </a:p>
        </p:txBody>
      </p:sp>
      <p:pic>
        <p:nvPicPr>
          <p:cNvPr id="1026" name="Picture 2" descr="NumPy - Wikipedia">
            <a:extLst>
              <a:ext uri="{FF2B5EF4-FFF2-40B4-BE49-F238E27FC236}">
                <a16:creationId xmlns:a16="http://schemas.microsoft.com/office/drawing/2014/main" id="{6AE6ECF0-0F3F-4CCA-B390-786C74384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518" y="2211267"/>
            <a:ext cx="2418272" cy="108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7F6A750-AE4B-40CD-8A1B-ED57C7EA1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6374" y="1525343"/>
            <a:ext cx="2418272" cy="97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AFAA172-94E0-40E4-B410-EF0611797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689" y="3697317"/>
            <a:ext cx="2418272" cy="693543"/>
          </a:xfrm>
          <a:prstGeom prst="rect">
            <a:avLst/>
          </a:prstGeom>
        </p:spPr>
      </p:pic>
      <p:pic>
        <p:nvPicPr>
          <p:cNvPr id="1034" name="Picture 10" descr="Matplotlib logo — Matplotlib 3.7.1 documentation">
            <a:extLst>
              <a:ext uri="{FF2B5EF4-FFF2-40B4-BE49-F238E27FC236}">
                <a16:creationId xmlns:a16="http://schemas.microsoft.com/office/drawing/2014/main" id="{0182DC71-5B7E-4924-BD26-F2E2F5EA7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848" y="4843807"/>
            <a:ext cx="3232210" cy="646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ABD556AC-DD62-4A4E-B998-0678FBA4D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953" y="2884144"/>
            <a:ext cx="2418272" cy="130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33121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3D88B-7C4F-44AE-9D35-AF5202C8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Загрузка данных и пропущенные значения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F70F9F-E7EA-4A15-A25D-B82BE97DF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029200" cy="3931920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trd</a:t>
            </a:r>
            <a:r>
              <a:rPr lang="en-US" b="1" dirty="0"/>
              <a:t> = </a:t>
            </a:r>
            <a:r>
              <a:rPr lang="en-US" b="1" dirty="0" err="1"/>
              <a:t>pd.read_csv</a:t>
            </a:r>
            <a:r>
              <a:rPr lang="en-US" b="1" dirty="0"/>
              <a:t>('train.csv')</a:t>
            </a:r>
          </a:p>
          <a:p>
            <a:pPr marL="0" indent="0">
              <a:buNone/>
            </a:pPr>
            <a:r>
              <a:rPr lang="en-US" b="1" dirty="0" err="1"/>
              <a:t>tsd</a:t>
            </a:r>
            <a:r>
              <a:rPr lang="en-US" b="1" dirty="0"/>
              <a:t> = </a:t>
            </a:r>
            <a:r>
              <a:rPr lang="en-US" b="1" dirty="0" err="1"/>
              <a:t>pd.read_csv</a:t>
            </a:r>
            <a:r>
              <a:rPr lang="en-US" b="1" dirty="0"/>
              <a:t>('test.csv')</a:t>
            </a:r>
          </a:p>
          <a:p>
            <a:pPr marL="0" indent="0">
              <a:buNone/>
            </a:pPr>
            <a:r>
              <a:rPr lang="en-US" b="1" dirty="0"/>
              <a:t>td = </a:t>
            </a:r>
            <a:r>
              <a:rPr lang="en-US" b="1" dirty="0" err="1"/>
              <a:t>pd.concat</a:t>
            </a:r>
            <a:r>
              <a:rPr lang="en-US" b="1" dirty="0"/>
              <a:t>([</a:t>
            </a:r>
            <a:r>
              <a:rPr lang="en-US" b="1" dirty="0" err="1"/>
              <a:t>trd</a:t>
            </a:r>
            <a:r>
              <a:rPr lang="en-US" b="1" dirty="0"/>
              <a:t>, </a:t>
            </a:r>
            <a:r>
              <a:rPr lang="en-US" b="1" dirty="0" err="1"/>
              <a:t>tsd</a:t>
            </a:r>
            <a:r>
              <a:rPr lang="en-US" b="1" dirty="0"/>
              <a:t>], </a:t>
            </a:r>
            <a:r>
              <a:rPr lang="en-US" b="1" dirty="0" err="1"/>
              <a:t>ignore_index</a:t>
            </a:r>
            <a:r>
              <a:rPr lang="en-US" b="1" dirty="0"/>
              <a:t>=True, sort = False)</a:t>
            </a:r>
            <a:endParaRPr lang="ru-RU" b="1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en-US" b="1" dirty="0" err="1"/>
              <a:t>td.isnull</a:t>
            </a:r>
            <a:r>
              <a:rPr lang="en-US" b="1" dirty="0"/>
              <a:t>().sum()</a:t>
            </a:r>
          </a:p>
          <a:p>
            <a:pPr marL="0" indent="0">
              <a:buNone/>
            </a:pPr>
            <a:r>
              <a:rPr lang="en-US" b="1" dirty="0" err="1"/>
              <a:t>sns.heatmap</a:t>
            </a:r>
            <a:r>
              <a:rPr lang="en-US" b="1" dirty="0"/>
              <a:t>(</a:t>
            </a:r>
            <a:r>
              <a:rPr lang="en-US" b="1" dirty="0" err="1"/>
              <a:t>td.isnull</a:t>
            </a:r>
            <a:r>
              <a:rPr lang="en-US" b="1" dirty="0"/>
              <a:t>(), cbar = False).</a:t>
            </a:r>
            <a:r>
              <a:rPr lang="en-US" b="1" dirty="0" err="1"/>
              <a:t>set_title</a:t>
            </a:r>
            <a:r>
              <a:rPr lang="en-US" b="1" dirty="0"/>
              <a:t>("Missing values heatmap")</a:t>
            </a:r>
            <a:endParaRPr lang="ru-RU" b="1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366FF1-C160-4AB4-8BEC-694E29E4D2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2014195"/>
            <a:ext cx="5034041" cy="359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3139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9DC3721-C345-4812-9516-5E0348E0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6000" b="1" dirty="0"/>
              <a:t>Признаки</a:t>
            </a:r>
          </a:p>
        </p:txBody>
      </p:sp>
    </p:spTree>
    <p:extLst>
      <p:ext uri="{BB962C8B-B14F-4D97-AF65-F5344CB8AC3E}">
        <p14:creationId xmlns:p14="http://schemas.microsoft.com/office/powerpoint/2010/main" val="290510925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68F74-2849-4EB9-BE87-08AA6E843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Survived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C93369-B3E8-490A-8365-013F22146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029200" cy="3931920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Данный признак показывает выжил ли отдельный пассажир при кораблекрушении. Как видно более чем</a:t>
            </a:r>
            <a:r>
              <a:rPr lang="en-US" b="1" dirty="0"/>
              <a:t> 60% </a:t>
            </a:r>
            <a:r>
              <a:rPr lang="ru-RU" b="1" dirty="0"/>
              <a:t>людей на корабле погибли.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CA2156-2A31-4AC7-A89C-4B839FE460E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2014194"/>
            <a:ext cx="5276850" cy="327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79449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68F74-2849-4EB9-BE87-08AA6E843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Pclass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C93369-B3E8-490A-8365-013F22146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029200" cy="3931920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Этот признак показывает класс, которым следовал пассажир. Пассажиры могли выбрать из трех отдельных классов, а именно: класс 1, класс 2 и класс 3. Третий класс имел наибольшее количество пассажиров, затем класс 2 и класс 1. Количество пассажиров в третьем классе было больше, чем количество пассажиров в первом и втором классе вместе взятых. Вероятность выживания пассажира класса 1 была выше, чем пассажира класса 2 и класса 3.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6A479A-F377-4485-B3AD-FE1CA7E023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2172131"/>
            <a:ext cx="5029200" cy="342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76781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68F74-2849-4EB9-BE87-08AA6E84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US" b="1" dirty="0"/>
              <a:t>Sex</a:t>
            </a:r>
            <a:endParaRPr lang="ru-RU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EC1AFE-5A14-49D7-9276-0D5899D716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6800" y="2172131"/>
            <a:ext cx="5029200" cy="29739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EB0CD1-9A01-4B46-81A8-6E3406DF7B0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154768" y="2172131"/>
            <a:ext cx="4970432" cy="297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4299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5941F6-C001-49CB-8454-CA0E7B5F9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b="1" dirty="0"/>
              <a:t>Age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88B866-B14A-4EDE-9EE5-858FD0018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029200" cy="3931920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Самому молодому путешественнику на борту было около двух месяцев, а самому старшему — 80 лет. Средний возраст пассажиров на борту был чуть менее 30 лет. Большая часть детей в возрасте до 10 лет выжила. В любой другой возрастной группе число жертв было выше, чем число выживших. Более 140 человек в возрастной группе 20-30 лет погибли в сравнении с примерно 80 выжившими того же возраста.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5CA9C6-06C8-4168-9986-16C5AB9013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2223890"/>
            <a:ext cx="5029200" cy="285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9160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93C4E9-8B9E-4BC3-8EA6-A71B5A604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SibSp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E91A07-0EF6-471A-B008-029762DBD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029200" cy="3931920"/>
          </a:xfrm>
        </p:spPr>
        <p:txBody>
          <a:bodyPr/>
          <a:lstStyle/>
          <a:p>
            <a:pPr marL="0" indent="0">
              <a:buNone/>
            </a:pPr>
            <a:r>
              <a:rPr lang="ru-RU" b="1" dirty="0" err="1"/>
              <a:t>SibSp</a:t>
            </a:r>
            <a:r>
              <a:rPr lang="ru-RU" b="1" dirty="0"/>
              <a:t> — это число братьев, сестер или супругов на борту у человека. Максимум 8 братьев и сестер путешествовали вместе с одним из путешественников. Более 90% людей путешествовали в одиночку или с одним из своих братьев и сестер или супругом(ой). Шансы на выживание резко падали, если кто-то ездил с более чем двумя родными.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AE1F0E-524F-45D9-9BA5-903BD7314A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2183339"/>
            <a:ext cx="5029200" cy="285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54103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4559D-C4E3-4452-94FE-12A1AD570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b="1" dirty="0"/>
              <a:t>Fare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A3BF1B-A901-412E-9E53-2412A724C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029200" cy="3931920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Очевидно, что существует сильная корреляция между стоимостью самого билета и выживанием. Чем больше заплатил пассажир корабля, тем выше его шансы выжить.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98763B-6682-4D07-9459-EFC1254CB5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2103120"/>
            <a:ext cx="5028054" cy="290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6925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79ABD-B2CB-4B6F-9240-FAAD4798A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b="1" dirty="0"/>
              <a:t>Embarked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4F614F-647F-44FC-8CB7-B9E5A5338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029200" cy="3931920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Этот столбец хранит информацию о порте посадки пассажира. Есть три возможных значения для </a:t>
            </a:r>
            <a:r>
              <a:rPr lang="ru-RU" b="1" dirty="0" err="1"/>
              <a:t>Embarked</a:t>
            </a:r>
            <a:r>
              <a:rPr lang="ru-RU" b="1" dirty="0"/>
              <a:t> -  Саутгемптон, </a:t>
            </a:r>
            <a:r>
              <a:rPr lang="ru-RU" b="1" dirty="0" err="1"/>
              <a:t>Шербург</a:t>
            </a:r>
            <a:r>
              <a:rPr lang="ru-RU" b="1" dirty="0"/>
              <a:t> и </a:t>
            </a:r>
            <a:r>
              <a:rPr lang="ru-RU" b="1" dirty="0" err="1"/>
              <a:t>Куинстаун</a:t>
            </a:r>
            <a:r>
              <a:rPr lang="ru-RU" b="1" dirty="0"/>
              <a:t>. Более 70% людей сели в Саутгемптон. Чуть менее 20% сели на борт из Шербура, а остальные — из </a:t>
            </a:r>
            <a:r>
              <a:rPr lang="ru-RU" b="1" dirty="0" err="1"/>
              <a:t>Квинстауна</a:t>
            </a:r>
            <a:r>
              <a:rPr lang="ru-RU" b="1" dirty="0"/>
              <a:t>. Люди, которые сели в порте </a:t>
            </a:r>
            <a:r>
              <a:rPr lang="ru-RU" b="1" dirty="0" err="1"/>
              <a:t>Шербург</a:t>
            </a:r>
            <a:r>
              <a:rPr lang="ru-RU" b="1" dirty="0"/>
              <a:t>, имели более высокие шансы на выживание, чем люди, которые сели в портах Саутгемптон или </a:t>
            </a:r>
            <a:r>
              <a:rPr lang="ru-RU" b="1" dirty="0" err="1"/>
              <a:t>Квинстаун</a:t>
            </a:r>
            <a:r>
              <a:rPr lang="ru-RU" b="1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23C9AC-5E83-4470-81C3-11B31879A3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7147" y="2189384"/>
            <a:ext cx="5028053" cy="307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14607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9DC3721-C345-4812-9516-5E0348E0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6000" b="1" dirty="0"/>
              <a:t>Заполнение пропущенных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91396348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1479D6-C3AB-4911-A7B6-AFA3BE4D1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b="1" dirty="0"/>
              <a:t>Embarked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9874BC-4784-402F-9394-835962396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029200" cy="39319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Поскольку у признака “</a:t>
            </a:r>
            <a:r>
              <a:rPr lang="en-US" b="1" dirty="0"/>
              <a:t>Embarked</a:t>
            </a:r>
            <a:r>
              <a:rPr lang="ru-RU" b="1" dirty="0"/>
              <a:t>” было пропущено только два значения, а также благодаря тому, что наибольшее количество пассажиров отправилось из Саутгемптона, вероятность посадки оставшихся пассажиров в Саутгемптоне выше. По данной причине, мы заполним недостающие значения </a:t>
            </a:r>
            <a:r>
              <a:rPr lang="ru-RU" b="1" dirty="0" err="1"/>
              <a:t>Саутгемтоном</a:t>
            </a:r>
            <a:r>
              <a:rPr lang="ru-RU" b="1" dirty="0"/>
              <a:t>. Однако мы не будем добавлять данные значения вручную, мы найдем моду признака “</a:t>
            </a:r>
            <a:r>
              <a:rPr lang="en-US" b="1" dirty="0"/>
              <a:t>Embarked</a:t>
            </a:r>
            <a:r>
              <a:rPr lang="ru-RU" b="1" dirty="0"/>
              <a:t>” и подставим в него два недостающих значения. Модой называется элемент выборки, встречающийся наибольшее количество раз. </a:t>
            </a:r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4DDA441-0823-4C1D-9C2B-2C7B786F42EA}"/>
              </a:ext>
            </a:extLst>
          </p:cNvPr>
          <p:cNvSpPr/>
          <p:nvPr/>
        </p:nvSpPr>
        <p:spPr>
          <a:xfrm>
            <a:off x="6096000" y="2984647"/>
            <a:ext cx="5029200" cy="888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b="1" dirty="0" err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td.Embarked.fillna</a:t>
            </a:r>
            <a:r>
              <a:rPr lang="en-US" b="1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td.Embarked.mode</a:t>
            </a:r>
            <a:r>
              <a:rPr lang="en-US" b="1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()[0], </a:t>
            </a:r>
            <a:r>
              <a:rPr lang="en-US" b="1" dirty="0" err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inplace</a:t>
            </a:r>
            <a:r>
              <a:rPr lang="en-US" b="1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True)</a:t>
            </a:r>
            <a:endParaRPr lang="ru-RU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65347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C9B3BB-FB19-4EC0-B5D8-77DC4E9B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b="1" dirty="0"/>
              <a:t>Age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C1CC90-2480-475C-809C-731F9668B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029200" cy="39319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Возраст имеет 263 пропущенных значения. Чтобы справиться с недостающими значениями, мы сначала попытаемся классифицировать людей по их обращениям. В наборе данных всего 17 различных обращений. МЫ группируем отношения и пол, затем находим медиану всех категорий и заменяем недостающие значения медианой этой категории.</a:t>
            </a:r>
          </a:p>
          <a:p>
            <a:pPr marL="0" indent="0">
              <a:buNone/>
            </a:pPr>
            <a:r>
              <a:rPr lang="ru-RU" b="1" dirty="0"/>
              <a:t>В дальнейшем я сгруппировал эти названия по </a:t>
            </a:r>
            <a:r>
              <a:rPr lang="az-Latn-AZ" b="1" dirty="0"/>
              <a:t>Sex </a:t>
            </a:r>
            <a:r>
              <a:rPr lang="ru-RU" b="1" dirty="0"/>
              <a:t>и </a:t>
            </a:r>
            <a:r>
              <a:rPr lang="az-Latn-AZ" b="1" dirty="0"/>
              <a:t>PClass</a:t>
            </a:r>
            <a:endParaRPr lang="ru-RU" b="1" dirty="0"/>
          </a:p>
          <a:p>
            <a:pPr marL="0" indent="0">
              <a:buNone/>
            </a:pPr>
            <a:r>
              <a:rPr lang="ru-RU" b="1" dirty="0"/>
              <a:t>Медиана группы затем была подставлена в пропущенные строки</a:t>
            </a:r>
          </a:p>
          <a:p>
            <a:pPr marL="0" indent="0">
              <a:buNone/>
            </a:pPr>
            <a:endParaRPr lang="ru-RU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DA2D79-D216-4AFD-A7B4-3C51700030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2715685"/>
            <a:ext cx="5029200" cy="270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31749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9DC3721-C345-4812-9516-5E0348E0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6000" b="1" dirty="0"/>
              <a:t>Прогнозирование</a:t>
            </a:r>
            <a:br>
              <a:rPr lang="ru-RU" sz="6000" b="1" dirty="0"/>
            </a:br>
            <a:r>
              <a:rPr lang="ru-RU" sz="6000" b="1" dirty="0"/>
              <a:t>Данных</a:t>
            </a:r>
          </a:p>
        </p:txBody>
      </p:sp>
    </p:spTree>
    <p:extLst>
      <p:ext uri="{BB962C8B-B14F-4D97-AF65-F5344CB8AC3E}">
        <p14:creationId xmlns:p14="http://schemas.microsoft.com/office/powerpoint/2010/main" val="275540617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3A73F-DF50-4A7F-BC9B-A88E5FB9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Гауссовский Наивный Байесовский классификатор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54CC71-6189-4241-87B0-1C0D9E942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029200" cy="4375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Гауссовский наивный байесовский классификатор - это вероятностный алгоритм машинного обучения, основанный на применении байесовской теории вероятностей. Наивный байесовский классификатор базируется на предположении о независимости признаков внутри каждого класса, то есть считает, что значение каждого признака влияет на классификацию независимо от значений остальных признаков. Это является упрощением, но позволяет эффективно работать с большими наборами данных.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F5C34A-6F1D-45D3-A697-99056EC2E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42964"/>
            <a:ext cx="5034991" cy="325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59943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104E4-93B0-4BDF-9228-D2272F1B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Алгоритм Случайного Леса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798783-45E7-4FA1-9887-14976DE62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19"/>
            <a:ext cx="5029200" cy="43580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Случайный лес - это алгоритм машинного обучения, который применяется для задач классификации, регрессии и других задач, связанных с анализом данных. Он основан на комбинировании множества деревьев решений. Основная идея случайного леса заключается в создании ансамбля из набора решающих деревьев, где каждое дерево обучается независимо на </a:t>
            </a:r>
            <a:r>
              <a:rPr lang="ru-RU" b="1" dirty="0" err="1"/>
              <a:t>подвыборках</a:t>
            </a:r>
            <a:r>
              <a:rPr lang="ru-RU" b="1" dirty="0"/>
              <a:t> данных с замещением, а также на случайных подмножествах признаков. Это позволяет случайному лесу учитывать различные аспекты и шум в данных, а также снижает вероятность переобучения модели.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FAD0B3-A4A5-4BCE-8AEF-80AA837CE2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2418126"/>
            <a:ext cx="5029200" cy="330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0682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9DC3721-C345-4812-9516-5E0348E0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6000" b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762205442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авон">
  <a:themeElements>
    <a:clrScheme name="Красный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Савон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аво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Савон</Template>
  <TotalTime>260</TotalTime>
  <Words>739</Words>
  <Application>Microsoft Office PowerPoint</Application>
  <PresentationFormat>Широкоэкранный</PresentationFormat>
  <Paragraphs>46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Century Gothic</vt:lpstr>
      <vt:lpstr>Courier New</vt:lpstr>
      <vt:lpstr>Савон</vt:lpstr>
      <vt:lpstr>Отчет о производственной практики</vt:lpstr>
      <vt:lpstr>Компания</vt:lpstr>
      <vt:lpstr>Библиотеки</vt:lpstr>
      <vt:lpstr>Загрузка данных и пропущенные значения</vt:lpstr>
      <vt:lpstr>Признаки</vt:lpstr>
      <vt:lpstr>Survived</vt:lpstr>
      <vt:lpstr>Pclass</vt:lpstr>
      <vt:lpstr>Sex</vt:lpstr>
      <vt:lpstr>Age</vt:lpstr>
      <vt:lpstr>SibSp</vt:lpstr>
      <vt:lpstr>Fare</vt:lpstr>
      <vt:lpstr>Embarked</vt:lpstr>
      <vt:lpstr>Заполнение пропущенных данных</vt:lpstr>
      <vt:lpstr>Embarked</vt:lpstr>
      <vt:lpstr>Age</vt:lpstr>
      <vt:lpstr>Прогнозирование Данных</vt:lpstr>
      <vt:lpstr>Гауссовский Наивный Байесовский классификатор</vt:lpstr>
      <vt:lpstr>Алгоритм Случайного Леса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о производственной практики</dc:title>
  <dc:creator>GeForce</dc:creator>
  <cp:lastModifiedBy>GeForce</cp:lastModifiedBy>
  <cp:revision>16</cp:revision>
  <dcterms:created xsi:type="dcterms:W3CDTF">2023-05-20T13:12:51Z</dcterms:created>
  <dcterms:modified xsi:type="dcterms:W3CDTF">2023-06-04T21:18:56Z</dcterms:modified>
</cp:coreProperties>
</file>